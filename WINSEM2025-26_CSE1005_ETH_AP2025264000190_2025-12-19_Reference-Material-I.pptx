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36E78-5005-403E-9963-629A0E3B4AB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E2854-F934-4DE1-843C-C876DDE08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177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34DD5AE-38BB-4B7B-8720-C70758D11039}" type="slidenum">
              <a:rPr lang="en-US" sz="1200" u="none" smtClean="0"/>
              <a:pPr eaLnBrk="1" hangingPunct="1"/>
              <a:t>28</a:t>
            </a:fld>
            <a:endParaRPr lang="en-US" sz="1200" u="none" smtClean="0"/>
          </a:p>
        </p:txBody>
      </p:sp>
      <p:sp>
        <p:nvSpPr>
          <p:cNvPr id="75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5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28D8EF1-6A27-48F4-9D08-4904A437769E}" type="slidenum">
              <a:rPr lang="en-US" sz="1200" u="none" smtClean="0"/>
              <a:pPr eaLnBrk="1" hangingPunct="1"/>
              <a:t>31</a:t>
            </a:fld>
            <a:endParaRPr lang="en-US" sz="1200" u="none" smtClean="0"/>
          </a:p>
        </p:txBody>
      </p:sp>
      <p:sp>
        <p:nvSpPr>
          <p:cNvPr id="75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5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7366825-2A42-4F02-A534-F95D83AF1980}" type="slidenum">
              <a:rPr lang="en-US" sz="1200" u="none" smtClean="0"/>
              <a:pPr eaLnBrk="1" hangingPunct="1"/>
              <a:t>32</a:t>
            </a:fld>
            <a:endParaRPr lang="en-US" sz="1200" u="none" smtClean="0"/>
          </a:p>
        </p:txBody>
      </p:sp>
      <p:sp>
        <p:nvSpPr>
          <p:cNvPr id="75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5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922DEDE-46F2-42B3-A243-118F8D6B7E34}" type="slidenum">
              <a:rPr lang="en-US" sz="1200" u="none" smtClean="0"/>
              <a:pPr eaLnBrk="1" hangingPunct="1"/>
              <a:t>33</a:t>
            </a:fld>
            <a:endParaRPr lang="en-US" sz="1200" u="none" smtClean="0"/>
          </a:p>
        </p:txBody>
      </p:sp>
      <p:sp>
        <p:nvSpPr>
          <p:cNvPr id="76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2B1F719-4DD2-4AD0-B8F2-2E31800F510F}" type="slidenum">
              <a:rPr lang="en-US" sz="1200" u="none" smtClean="0"/>
              <a:pPr eaLnBrk="1" hangingPunct="1"/>
              <a:t>34</a:t>
            </a:fld>
            <a:endParaRPr lang="en-US" sz="1200" u="none" smtClean="0"/>
          </a:p>
        </p:txBody>
      </p:sp>
      <p:sp>
        <p:nvSpPr>
          <p:cNvPr id="76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EDDC-BD46-486E-A031-CCC82A736567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D4FE3-D502-46EA-BC15-98CCAAA44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940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EDDC-BD46-486E-A031-CCC82A736567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D4FE3-D502-46EA-BC15-98CCAAA44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831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EDDC-BD46-486E-A031-CCC82A736567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D4FE3-D502-46EA-BC15-98CCAAA44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583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EDDC-BD46-486E-A031-CCC82A736567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D4FE3-D502-46EA-BC15-98CCAAA44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221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EDDC-BD46-486E-A031-CCC82A736567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D4FE3-D502-46EA-BC15-98CCAAA44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392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EDDC-BD46-486E-A031-CCC82A736567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D4FE3-D502-46EA-BC15-98CCAAA44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176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EDDC-BD46-486E-A031-CCC82A736567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D4FE3-D502-46EA-BC15-98CCAAA44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54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EDDC-BD46-486E-A031-CCC82A736567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D4FE3-D502-46EA-BC15-98CCAAA44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655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EDDC-BD46-486E-A031-CCC82A736567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D4FE3-D502-46EA-BC15-98CCAAA44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949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EDDC-BD46-486E-A031-CCC82A736567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D4FE3-D502-46EA-BC15-98CCAAA44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961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EDDC-BD46-486E-A031-CCC82A736567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D4FE3-D502-46EA-BC15-98CCAAA44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14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4EDDC-BD46-486E-A031-CCC82A736567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D4FE3-D502-46EA-BC15-98CCAAA44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956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143000"/>
            <a:ext cx="7772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800" dirty="0" smtClean="0">
                <a:latin typeface="Arial" charset="0"/>
              </a:rPr>
              <a:t/>
            </a:r>
            <a:br>
              <a:rPr lang="en-US" sz="4800" dirty="0" smtClean="0">
                <a:latin typeface="Arial" charset="0"/>
              </a:rPr>
            </a:br>
            <a:r>
              <a:rPr lang="en-US" sz="4800" dirty="0" smtClean="0">
                <a:latin typeface="Arial" charset="0"/>
              </a:rPr>
              <a:t>Software and Software</a:t>
            </a:r>
            <a:br>
              <a:rPr lang="en-US" sz="4800" dirty="0" smtClean="0">
                <a:latin typeface="Arial" charset="0"/>
              </a:rPr>
            </a:br>
            <a:r>
              <a:rPr lang="en-US" sz="4800" dirty="0" smtClean="0">
                <a:latin typeface="Arial" charset="0"/>
              </a:rPr>
              <a:t>Engineering</a:t>
            </a:r>
            <a:r>
              <a:rPr lang="en-US" sz="4800" dirty="0" smtClean="0"/>
              <a:t/>
            </a:r>
            <a:br>
              <a:rPr lang="en-US" sz="4800" dirty="0" smtClean="0"/>
            </a:br>
            <a:r>
              <a:rPr lang="en-US" sz="1800" dirty="0" smtClean="0">
                <a:latin typeface="Arial" charset="0"/>
              </a:rPr>
              <a:t/>
            </a:r>
            <a:br>
              <a:rPr lang="en-US" sz="1800" dirty="0" smtClean="0">
                <a:latin typeface="Arial" charset="0"/>
              </a:rPr>
            </a:br>
            <a:r>
              <a:rPr lang="en-US" sz="1800" dirty="0" smtClean="0">
                <a:latin typeface="Arial" charset="0"/>
              </a:rPr>
              <a:t/>
            </a:r>
            <a:br>
              <a:rPr lang="en-US" sz="1800" dirty="0" smtClean="0">
                <a:latin typeface="Arial" charset="0"/>
              </a:rPr>
            </a:br>
            <a:r>
              <a:rPr lang="en-US" sz="1800" dirty="0" smtClean="0">
                <a:latin typeface="Arial" charset="0"/>
              </a:rPr>
              <a:t>  </a:t>
            </a:r>
          </a:p>
        </p:txBody>
      </p:sp>
      <p:sp>
        <p:nvSpPr>
          <p:cNvPr id="2051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743200"/>
            <a:ext cx="7239000" cy="1752600"/>
          </a:xfrm>
        </p:spPr>
        <p:txBody>
          <a:bodyPr/>
          <a:lstStyle/>
          <a:p>
            <a:pPr eaLnBrk="1" hangingPunct="1"/>
            <a:r>
              <a:rPr lang="en-US" sz="2400" dirty="0" smtClean="0"/>
              <a:t>Module-1</a:t>
            </a:r>
          </a:p>
          <a:p>
            <a:pPr algn="l" eaLnBrk="1" hangingPunct="1">
              <a:buFontTx/>
              <a:buChar char="-"/>
            </a:pPr>
            <a:endParaRPr lang="en-US" sz="2400" dirty="0" smtClean="0"/>
          </a:p>
        </p:txBody>
      </p:sp>
      <p:sp>
        <p:nvSpPr>
          <p:cNvPr id="2052" name="Text Box 5"/>
          <p:cNvSpPr txBox="1">
            <a:spLocks noChangeArrowheads="1"/>
          </p:cNvSpPr>
          <p:nvPr/>
        </p:nvSpPr>
        <p:spPr bwMode="auto">
          <a:xfrm>
            <a:off x="1535113" y="6507163"/>
            <a:ext cx="60086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US" sz="1200" u="none"/>
              <a:t>(Source: Pressman, R. </a:t>
            </a:r>
            <a:r>
              <a:rPr lang="en-US" sz="1200" i="1" u="none"/>
              <a:t>Software Engineering: A Practitioner’s Approach</a:t>
            </a:r>
            <a:r>
              <a:rPr lang="en-US" sz="1200" u="none"/>
              <a:t>.  McGraw-Hill, 2005)</a:t>
            </a:r>
          </a:p>
        </p:txBody>
      </p:sp>
    </p:spTree>
    <p:extLst>
      <p:ext uri="{BB962C8B-B14F-4D97-AF65-F5344CB8AC3E}">
        <p14:creationId xmlns:p14="http://schemas.microsoft.com/office/powerpoint/2010/main" val="1358558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0E8CC061-3802-4ABB-B47F-C998DCF219EE}" type="slidenum">
              <a:rPr lang="en-US" sz="1400" u="none" smtClean="0"/>
              <a:pPr eaLnBrk="1" hangingPunct="1"/>
              <a:t>2</a:t>
            </a:fld>
            <a:endParaRPr lang="en-US" sz="1400" u="none" smtClean="0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sz="4000" smtClean="0">
                <a:latin typeface="Arial" charset="0"/>
              </a:rPr>
              <a:t>Dual Role of Software</a:t>
            </a:r>
            <a:endParaRPr lang="en-US" sz="3200" smtClean="0">
              <a:latin typeface="Arial" charset="0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smtClean="0"/>
              <a:t>Both a product and a vehicle for delivering a product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smtClean="0"/>
              <a:t>Product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600" smtClean="0"/>
              <a:t>Delivers computing potential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600" smtClean="0"/>
              <a:t>Produces, manages, acquires, modifies, display, or transmits information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smtClean="0"/>
              <a:t>Vehicle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600" smtClean="0"/>
              <a:t>Supports or directly provides system functionality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600" smtClean="0"/>
              <a:t>Controls other programs (e.g., operating systems)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600" smtClean="0"/>
              <a:t>Effects communications (e.g., networking software)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600" smtClean="0"/>
              <a:t>Helps build other software (e.g., software tools)</a:t>
            </a:r>
          </a:p>
          <a:p>
            <a:pPr eaLnBrk="1" hangingPunct="1">
              <a:lnSpc>
                <a:spcPct val="90000"/>
              </a:lnSpc>
            </a:pPr>
            <a:endParaRPr lang="en-US" sz="2000" smtClean="0"/>
          </a:p>
        </p:txBody>
      </p:sp>
    </p:spTree>
    <p:extLst>
      <p:ext uri="{BB962C8B-B14F-4D97-AF65-F5344CB8AC3E}">
        <p14:creationId xmlns:p14="http://schemas.microsoft.com/office/powerpoint/2010/main" val="2162757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9031AA32-F101-4CFE-8821-C28408C3E173}" type="slidenum">
              <a:rPr lang="en-US" sz="1400" u="none" smtClean="0"/>
              <a:pPr eaLnBrk="1" hangingPunct="1"/>
              <a:t>3</a:t>
            </a:fld>
            <a:endParaRPr lang="en-US" sz="1400" u="none" smtClean="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smtClean="0">
                <a:latin typeface="Arial" charset="0"/>
              </a:rPr>
              <a:t>Questions About Software Haven't Changed Over the Decades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4384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smtClean="0"/>
              <a:t>Why does it take so long to get software finished?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Why are development costs so high?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Why can't we find all errors before we give the software to our customers?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Why do we spend so much time and effort maintaining existing programs?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Why do we continue to have difficulty in measuring progress as software is being developed and maintained?</a:t>
            </a:r>
          </a:p>
        </p:txBody>
      </p:sp>
    </p:spTree>
    <p:extLst>
      <p:ext uri="{BB962C8B-B14F-4D97-AF65-F5344CB8AC3E}">
        <p14:creationId xmlns:p14="http://schemas.microsoft.com/office/powerpoint/2010/main" val="2080779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3EF913E-5325-41CA-974E-7681B52A647C}" type="slidenum">
              <a:rPr lang="en-US" sz="1400" u="none" smtClean="0"/>
              <a:pPr eaLnBrk="1" hangingPunct="1"/>
              <a:t>4</a:t>
            </a:fld>
            <a:endParaRPr lang="en-US" sz="1400" u="none" smtClean="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A Definition of Software </a:t>
            </a:r>
            <a:br>
              <a:rPr lang="en-US" smtClean="0"/>
            </a:br>
            <a:r>
              <a:rPr lang="en-US" smtClean="0"/>
              <a:t>(all inclusive)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590800"/>
            <a:ext cx="7772400" cy="4114800"/>
          </a:xfrm>
        </p:spPr>
        <p:txBody>
          <a:bodyPr/>
          <a:lstStyle/>
          <a:p>
            <a:pPr eaLnBrk="1" hangingPunct="1"/>
            <a:r>
              <a:rPr lang="en-US" sz="2000" b="1" smtClean="0"/>
              <a:t>Instructions</a:t>
            </a:r>
            <a:r>
              <a:rPr lang="en-US" sz="2000" smtClean="0"/>
              <a:t> (computer programs) that when executed provide desired features, function, and performance</a:t>
            </a:r>
          </a:p>
          <a:p>
            <a:pPr eaLnBrk="1" hangingPunct="1"/>
            <a:r>
              <a:rPr lang="en-US" sz="2000" b="1" smtClean="0"/>
              <a:t>Data structures</a:t>
            </a:r>
            <a:r>
              <a:rPr lang="en-US" sz="2000" smtClean="0"/>
              <a:t> that enable the programs to adequately manipulate information</a:t>
            </a:r>
          </a:p>
          <a:p>
            <a:pPr eaLnBrk="1" hangingPunct="1"/>
            <a:r>
              <a:rPr lang="en-US" sz="2000" b="1" smtClean="0"/>
              <a:t>Documents</a:t>
            </a:r>
            <a:r>
              <a:rPr lang="en-US" sz="2000" smtClean="0"/>
              <a:t> that describe the operation and use of the programs</a:t>
            </a:r>
          </a:p>
        </p:txBody>
      </p:sp>
    </p:spTree>
    <p:extLst>
      <p:ext uri="{BB962C8B-B14F-4D97-AF65-F5344CB8AC3E}">
        <p14:creationId xmlns:p14="http://schemas.microsoft.com/office/powerpoint/2010/main" val="1458398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F9B2E6B-BF81-4B92-80CB-B4450101BB14}" type="slidenum">
              <a:rPr lang="en-US" sz="1400" u="none" smtClean="0"/>
              <a:pPr eaLnBrk="1" hangingPunct="1"/>
              <a:t>5</a:t>
            </a:fld>
            <a:endParaRPr lang="en-US" sz="1400" u="none" smtClean="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Differences between Software and Hardware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5146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Software is developed or engineered; it is not manufactured in the classical sense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Impacts the management of software projects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Software doesn't wear out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Hardware bathtub curve compared to the software ascending spiked curve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Although the industry is moving toward component-based construction, most software continues to be custom built  (it is still complex to build)</a:t>
            </a:r>
          </a:p>
        </p:txBody>
      </p:sp>
    </p:spTree>
    <p:extLst>
      <p:ext uri="{BB962C8B-B14F-4D97-AF65-F5344CB8AC3E}">
        <p14:creationId xmlns:p14="http://schemas.microsoft.com/office/powerpoint/2010/main" val="911489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3E0C9C5-A7EB-4BF6-A7C7-30794241C015}" type="slidenum">
              <a:rPr lang="en-US" sz="1400" u="none" smtClean="0"/>
              <a:pPr eaLnBrk="1" hangingPunct="1"/>
              <a:t>6</a:t>
            </a:fld>
            <a:endParaRPr lang="en-US" sz="1400" u="none" smtClean="0"/>
          </a:p>
        </p:txBody>
      </p:sp>
      <p:pic>
        <p:nvPicPr>
          <p:cNvPr id="7171" name="Picture 2" descr="C:\Users\Admin\Pictures\Screenshots\Screenshot 2025-12-07 21300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360363"/>
            <a:ext cx="8659813" cy="6135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55600"/>
            <a:ext cx="1333500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6332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AE872E-A4A8-4217-B47A-E55441E86122}" type="slidenum">
              <a:rPr lang="en-US" sz="1400" u="none" smtClean="0"/>
              <a:pPr eaLnBrk="1" hangingPunct="1"/>
              <a:t>7</a:t>
            </a:fld>
            <a:endParaRPr lang="en-US" sz="1400" u="none" smtClean="0"/>
          </a:p>
        </p:txBody>
      </p:sp>
      <p:sp>
        <p:nvSpPr>
          <p:cNvPr id="8195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/>
              <a:t>Software Failure Curve</a:t>
            </a:r>
          </a:p>
        </p:txBody>
      </p:sp>
      <p:grpSp>
        <p:nvGrpSpPr>
          <p:cNvPr id="8196" name="Group 7"/>
          <p:cNvGrpSpPr>
            <a:grpSpLocks/>
          </p:cNvGrpSpPr>
          <p:nvPr/>
        </p:nvGrpSpPr>
        <p:grpSpPr bwMode="auto">
          <a:xfrm>
            <a:off x="990600" y="1828800"/>
            <a:ext cx="7162800" cy="4419600"/>
            <a:chOff x="624" y="1152"/>
            <a:chExt cx="4512" cy="2784"/>
          </a:xfrm>
        </p:grpSpPr>
        <p:sp>
          <p:nvSpPr>
            <p:cNvPr id="8197" name="Rectangle 5"/>
            <p:cNvSpPr>
              <a:spLocks noChangeArrowheads="1"/>
            </p:cNvSpPr>
            <p:nvPr/>
          </p:nvSpPr>
          <p:spPr bwMode="auto">
            <a:xfrm>
              <a:off x="624" y="1152"/>
              <a:ext cx="4512" cy="2784"/>
            </a:xfrm>
            <a:prstGeom prst="rect">
              <a:avLst/>
            </a:prstGeom>
            <a:solidFill>
              <a:srgbClr val="96E3FE"/>
            </a:solidFill>
            <a:ln>
              <a:noFill/>
            </a:ln>
            <a:effectLst>
              <a:outerShdw dist="71842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8198" name="Picture 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" y="1200"/>
              <a:ext cx="4392" cy="2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00046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A28BECB-FD90-4BF0-8146-27B929278BCD}" type="slidenum">
              <a:rPr lang="en-US" sz="1400" u="none" smtClean="0"/>
              <a:pPr eaLnBrk="1" hangingPunct="1"/>
              <a:t>8</a:t>
            </a:fld>
            <a:endParaRPr lang="en-US" sz="1400" u="none" smtClean="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IN" dirty="0"/>
              <a:t>Software Application Domains</a:t>
            </a:r>
            <a:endParaRPr lang="en-US" dirty="0" smtClean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502920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System software</a:t>
            </a:r>
            <a:r>
              <a:rPr lang="en-US" sz="2400" dirty="0" smtClean="0"/>
              <a:t>: Software that helps the computer work.</a:t>
            </a:r>
            <a:br>
              <a:rPr lang="en-US" sz="2400" dirty="0" smtClean="0"/>
            </a:br>
            <a:r>
              <a:rPr lang="en-US" sz="2400" b="1" dirty="0" smtClean="0"/>
              <a:t>Examples:</a:t>
            </a:r>
            <a:r>
              <a:rPr lang="en-US" sz="2400" dirty="0" smtClean="0"/>
              <a:t> Operating systems (Windows, Linux), device drivers.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Application software</a:t>
            </a:r>
            <a:r>
              <a:rPr lang="en-US" sz="2400" dirty="0" smtClean="0"/>
              <a:t>: Software used by people for day-to-day tasks.</a:t>
            </a:r>
            <a:br>
              <a:rPr lang="en-US" sz="2400" dirty="0" smtClean="0"/>
            </a:br>
            <a:r>
              <a:rPr lang="en-US" sz="2400" b="1" dirty="0" smtClean="0"/>
              <a:t>Examples:</a:t>
            </a:r>
            <a:r>
              <a:rPr lang="en-US" sz="2400" dirty="0" smtClean="0"/>
              <a:t> MS Word, browsers, games, mobile apps.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Engineering/scientific software</a:t>
            </a:r>
            <a:r>
              <a:rPr lang="en-US" sz="2400" dirty="0" smtClean="0"/>
              <a:t>: Used for calculations, simulations, and technical problem-solving.</a:t>
            </a:r>
            <a:br>
              <a:rPr lang="en-US" sz="2400" dirty="0" smtClean="0"/>
            </a:br>
            <a:r>
              <a:rPr lang="en-US" sz="2400" b="1" dirty="0" smtClean="0"/>
              <a:t>Examples:</a:t>
            </a:r>
            <a:r>
              <a:rPr lang="en-US" sz="2400" dirty="0" smtClean="0"/>
              <a:t> MATLAB, AutoCAD.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955609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A28BECB-FD90-4BF0-8146-27B929278BCD}" type="slidenum">
              <a:rPr lang="en-US" sz="1400" u="none" smtClean="0"/>
              <a:pPr eaLnBrk="1" hangingPunct="1"/>
              <a:t>9</a:t>
            </a:fld>
            <a:endParaRPr lang="en-US" sz="1400" u="none" smtClean="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IN" dirty="0"/>
              <a:t>Software Application Domains</a:t>
            </a:r>
            <a:endParaRPr lang="en-US" dirty="0" smtClean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502920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Embedded software: </a:t>
            </a:r>
            <a:r>
              <a:rPr lang="en-US" sz="2400" dirty="0" smtClean="0"/>
              <a:t>Software inside machines or devices.</a:t>
            </a:r>
            <a:br>
              <a:rPr lang="en-US" sz="2400" dirty="0" smtClean="0"/>
            </a:br>
            <a:r>
              <a:rPr lang="en-US" sz="2400" b="1" dirty="0" smtClean="0"/>
              <a:t>Examples:</a:t>
            </a:r>
            <a:r>
              <a:rPr lang="en-US" sz="2400" dirty="0" smtClean="0"/>
              <a:t> Software in washing machines, microwaves, cars, ATMs.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Product-line software (e.g., inventory control, word processing, multimedia):</a:t>
            </a:r>
            <a:r>
              <a:rPr lang="en-US" sz="2400" dirty="0" smtClean="0"/>
              <a:t> Software used in companies to support business operations.</a:t>
            </a:r>
          </a:p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en-US" sz="2400" b="1" dirty="0" smtClean="0"/>
              <a:t>     Examples:</a:t>
            </a:r>
            <a:r>
              <a:rPr lang="en-US" sz="2400" dirty="0" smtClean="0"/>
              <a:t> Inventory management, billing systems, multimedia   suites.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12441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071629A-BFC6-4CE3-B232-533AE22F8EE8}" type="slidenum">
              <a:rPr lang="en-US" sz="1400" u="none" smtClean="0"/>
              <a:pPr eaLnBrk="1" hangingPunct="1"/>
              <a:t>10</a:t>
            </a:fld>
            <a:endParaRPr lang="en-US" sz="1400" u="none" smtClean="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IN" dirty="0" smtClean="0"/>
              <a:t>Software Application Domains</a:t>
            </a:r>
            <a:endParaRPr lang="en-US" dirty="0" smtClean="0"/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077200" cy="502920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Web applications: </a:t>
            </a:r>
            <a:r>
              <a:rPr lang="en-US" sz="2400" dirty="0" smtClean="0"/>
              <a:t>Software that runs on websites.</a:t>
            </a:r>
            <a:br>
              <a:rPr lang="en-US" sz="2400" dirty="0" smtClean="0"/>
            </a:br>
            <a:r>
              <a:rPr lang="en-US" sz="2400" b="1" dirty="0" smtClean="0"/>
              <a:t>Examples:</a:t>
            </a:r>
            <a:r>
              <a:rPr lang="en-US" sz="2400" dirty="0" smtClean="0"/>
              <a:t> Online banking, Gmail, Amazon, YouTube.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Artificial intelligence software: </a:t>
            </a:r>
            <a:r>
              <a:rPr lang="en-US" sz="2400" dirty="0" smtClean="0"/>
              <a:t>Software that learns, predicts, or acts smart.</a:t>
            </a:r>
          </a:p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en-US" sz="2400" b="1" dirty="0" smtClean="0"/>
              <a:t>    Examples:</a:t>
            </a:r>
            <a:r>
              <a:rPr lang="en-US" sz="2400" dirty="0" smtClean="0"/>
              <a:t> </a:t>
            </a:r>
            <a:r>
              <a:rPr lang="en-US" sz="2400" dirty="0" err="1" smtClean="0"/>
              <a:t>Chatbots</a:t>
            </a:r>
            <a:r>
              <a:rPr lang="en-US" sz="2400" dirty="0" smtClean="0"/>
              <a:t>, recommendation systems, self-driving</a:t>
            </a:r>
          </a:p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en-US" sz="2400" dirty="0"/>
              <a:t> </a:t>
            </a:r>
            <a:r>
              <a:rPr lang="en-US" sz="2400" dirty="0" smtClean="0"/>
              <a:t>    car algorithms.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318125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05E6541-B1F3-4CD1-9AF2-7F8A035789EE}" type="slidenum">
              <a:rPr lang="en-US" sz="1400" u="none" smtClean="0"/>
              <a:pPr eaLnBrk="1" hangingPunct="1"/>
              <a:t>11</a:t>
            </a:fld>
            <a:endParaRPr lang="en-US" sz="1400" u="none" smtClean="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Legacy Software - Characteristics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286000"/>
            <a:ext cx="7772400" cy="4114800"/>
          </a:xfrm>
        </p:spPr>
        <p:txBody>
          <a:bodyPr/>
          <a:lstStyle/>
          <a:p>
            <a:pPr eaLnBrk="1" hangingPunct="1"/>
            <a:r>
              <a:rPr lang="en-US" sz="2000" dirty="0" smtClean="0"/>
              <a:t>Support core business functions</a:t>
            </a:r>
          </a:p>
          <a:p>
            <a:pPr eaLnBrk="1" hangingPunct="1"/>
            <a:r>
              <a:rPr lang="en-US" sz="2000" dirty="0" smtClean="0"/>
              <a:t>Have longevity and business criticality</a:t>
            </a:r>
          </a:p>
          <a:p>
            <a:pPr eaLnBrk="1" hangingPunct="1"/>
            <a:r>
              <a:rPr lang="en-US" sz="2000" dirty="0" smtClean="0"/>
              <a:t>Exhibit poor quality</a:t>
            </a:r>
          </a:p>
          <a:p>
            <a:pPr lvl="1" eaLnBrk="1" hangingPunct="1"/>
            <a:r>
              <a:rPr lang="en-US" sz="1800" dirty="0" smtClean="0"/>
              <a:t>Convoluted code, poor documentation, poor testing, poor change management  </a:t>
            </a:r>
          </a:p>
        </p:txBody>
      </p:sp>
    </p:spTree>
    <p:extLst>
      <p:ext uri="{BB962C8B-B14F-4D97-AF65-F5344CB8AC3E}">
        <p14:creationId xmlns:p14="http://schemas.microsoft.com/office/powerpoint/2010/main" val="1570088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EA9BBA7-4E9A-4C26-A93D-D64C48830E92}" type="slidenum">
              <a:rPr lang="en-US" sz="1400" u="none" smtClean="0"/>
              <a:pPr eaLnBrk="1" hangingPunct="1"/>
              <a:t>12</a:t>
            </a:fld>
            <a:endParaRPr lang="en-US" sz="1400" u="none" smtClean="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smtClean="0"/>
              <a:t>Reasons for Evolving the Legacy Software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09800"/>
            <a:ext cx="7772400" cy="4114800"/>
          </a:xfrm>
        </p:spPr>
        <p:txBody>
          <a:bodyPr/>
          <a:lstStyle/>
          <a:p>
            <a:pPr eaLnBrk="1" hangingPunct="1"/>
            <a:r>
              <a:rPr lang="en-US" sz="2000" dirty="0" smtClean="0"/>
              <a:t>(Adaptive) Must be adapted to meet the needs of new computing environments or more modern systems, databases, or networks</a:t>
            </a:r>
          </a:p>
          <a:p>
            <a:pPr eaLnBrk="1" hangingPunct="1"/>
            <a:r>
              <a:rPr lang="en-US" sz="2000" dirty="0" smtClean="0"/>
              <a:t>(Perfective) Must be enhanced to implement new business requirements</a:t>
            </a:r>
          </a:p>
          <a:p>
            <a:pPr eaLnBrk="1" hangingPunct="1"/>
            <a:r>
              <a:rPr lang="en-US" sz="2000" dirty="0" smtClean="0"/>
              <a:t>(Corrective) Must be changed because of errors found in the specification, design, or implementation</a:t>
            </a:r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619125" y="5916613"/>
            <a:ext cx="7921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 u="none"/>
              <a:t>(Note: These are also the three major reasons for any software maintenance)</a:t>
            </a:r>
          </a:p>
        </p:txBody>
      </p:sp>
    </p:spTree>
    <p:extLst>
      <p:ext uri="{BB962C8B-B14F-4D97-AF65-F5344CB8AC3E}">
        <p14:creationId xmlns:p14="http://schemas.microsoft.com/office/powerpoint/2010/main" val="2404501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17CE152-A79A-46EE-BDB5-F29CD4F3EF78}" type="slidenum">
              <a:rPr lang="en-US" sz="1400" u="none" smtClean="0"/>
              <a:pPr eaLnBrk="1" hangingPunct="1"/>
              <a:t>13</a:t>
            </a:fld>
            <a:endParaRPr lang="en-US" sz="1400" u="none" smtClean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sz="4000" smtClean="0">
                <a:latin typeface="Arial" charset="0"/>
              </a:rPr>
              <a:t>Software Engineering - Defined</a:t>
            </a:r>
            <a:endParaRPr lang="en-US" sz="3200" smtClean="0">
              <a:latin typeface="Arial" charset="0"/>
            </a:endParaRP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142" y="1219200"/>
            <a:ext cx="8891257" cy="54864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400" dirty="0"/>
              <a:t>In order to build software that is ready to meet the challenges of the </a:t>
            </a:r>
            <a:r>
              <a:rPr lang="en-US" sz="2400" dirty="0" smtClean="0"/>
              <a:t>twenty-first century</a:t>
            </a:r>
            <a:r>
              <a:rPr lang="en-US" sz="2400" dirty="0"/>
              <a:t>, you must recognize a few simple realities</a:t>
            </a:r>
            <a:r>
              <a:rPr lang="en-US" sz="2400" dirty="0" smtClean="0"/>
              <a:t>:</a:t>
            </a:r>
          </a:p>
          <a:p>
            <a:pPr algn="just"/>
            <a:r>
              <a:rPr lang="en-US" sz="2400" i="1" dirty="0"/>
              <a:t>It follows that a concerted effort should be made to understand </a:t>
            </a:r>
            <a:r>
              <a:rPr lang="en-US" sz="2400" i="1" dirty="0" smtClean="0"/>
              <a:t>the problem </a:t>
            </a:r>
            <a:r>
              <a:rPr lang="en-US" sz="2400" i="1" dirty="0"/>
              <a:t>before a software solution is developed</a:t>
            </a:r>
            <a:r>
              <a:rPr lang="en-US" sz="2400" i="1" dirty="0" smtClean="0"/>
              <a:t>.</a:t>
            </a:r>
          </a:p>
          <a:p>
            <a:pPr algn="just"/>
            <a:r>
              <a:rPr lang="en-IN" sz="2400" i="1" dirty="0" smtClean="0"/>
              <a:t>It </a:t>
            </a:r>
            <a:r>
              <a:rPr lang="en-US" sz="2400" i="1" dirty="0" smtClean="0"/>
              <a:t>follows </a:t>
            </a:r>
            <a:r>
              <a:rPr lang="en-US" sz="2400" i="1" dirty="0"/>
              <a:t>that design becomes a pivotal activity</a:t>
            </a:r>
            <a:r>
              <a:rPr lang="en-US" sz="2400" i="1" dirty="0" smtClean="0"/>
              <a:t>.</a:t>
            </a:r>
          </a:p>
          <a:p>
            <a:pPr algn="just"/>
            <a:r>
              <a:rPr lang="en-IN" sz="2400" i="1" dirty="0"/>
              <a:t>It follows </a:t>
            </a:r>
            <a:r>
              <a:rPr lang="en-IN" sz="2400" i="1" dirty="0" smtClean="0"/>
              <a:t>that </a:t>
            </a:r>
            <a:r>
              <a:rPr lang="en-US" sz="2400" i="1" dirty="0" smtClean="0"/>
              <a:t>software </a:t>
            </a:r>
            <a:r>
              <a:rPr lang="en-US" sz="2400" i="1" dirty="0"/>
              <a:t>should exhibit high quality</a:t>
            </a:r>
            <a:r>
              <a:rPr lang="en-US" sz="2400" i="1" dirty="0" smtClean="0"/>
              <a:t>.</a:t>
            </a:r>
          </a:p>
          <a:p>
            <a:pPr algn="just"/>
            <a:r>
              <a:rPr lang="en-IN" sz="2400" i="1" dirty="0"/>
              <a:t>It </a:t>
            </a:r>
            <a:r>
              <a:rPr lang="en-IN" sz="2400" i="1" dirty="0" smtClean="0"/>
              <a:t>follows </a:t>
            </a:r>
            <a:r>
              <a:rPr lang="en-US" sz="2400" i="1" dirty="0" smtClean="0"/>
              <a:t>that </a:t>
            </a:r>
            <a:r>
              <a:rPr lang="en-US" sz="2400" i="1" dirty="0"/>
              <a:t>software should be maintainable</a:t>
            </a:r>
            <a:r>
              <a:rPr lang="en-US" sz="2400" i="1" dirty="0" smtClean="0"/>
              <a:t>.</a:t>
            </a:r>
          </a:p>
          <a:p>
            <a:pPr marL="0" indent="0">
              <a:buNone/>
            </a:pPr>
            <a:endParaRPr lang="en-US" sz="2400" i="1" dirty="0"/>
          </a:p>
          <a:p>
            <a:pPr marL="0" indent="0">
              <a:buNone/>
            </a:pPr>
            <a:r>
              <a:rPr lang="en-US" sz="2400" dirty="0"/>
              <a:t>These simple realities lead to one conclusion: </a:t>
            </a:r>
            <a:r>
              <a:rPr lang="en-US" sz="2400" i="1" dirty="0"/>
              <a:t>software in all of its forms and across </a:t>
            </a:r>
            <a:r>
              <a:rPr lang="en-US" sz="2400" i="1" dirty="0" smtClean="0"/>
              <a:t>all of </a:t>
            </a:r>
            <a:r>
              <a:rPr lang="en-US" sz="2400" i="1" dirty="0"/>
              <a:t>its application domains should be engineered. </a:t>
            </a:r>
            <a:r>
              <a:rPr lang="en-US" sz="2400" dirty="0"/>
              <a:t>And that leads us </a:t>
            </a:r>
            <a:r>
              <a:rPr lang="en-US" sz="2400" dirty="0" smtClean="0"/>
              <a:t>to</a:t>
            </a:r>
            <a:r>
              <a:rPr lang="en-IN" sz="2400" dirty="0" smtClean="0"/>
              <a:t>—</a:t>
            </a:r>
            <a:r>
              <a:rPr lang="en-IN" sz="2400" i="1" dirty="0" smtClean="0"/>
              <a:t>software </a:t>
            </a:r>
            <a:r>
              <a:rPr lang="en-IN" sz="2400" i="1" dirty="0"/>
              <a:t>engineering.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434285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17CE152-A79A-46EE-BDB5-F29CD4F3EF78}" type="slidenum">
              <a:rPr lang="en-US" sz="1400" u="none" smtClean="0"/>
              <a:pPr eaLnBrk="1" hangingPunct="1"/>
              <a:t>14</a:t>
            </a:fld>
            <a:endParaRPr lang="en-US" sz="1400" u="none" smtClean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sz="4000" smtClean="0">
                <a:latin typeface="Arial" charset="0"/>
              </a:rPr>
              <a:t>Software Engineering - Defined</a:t>
            </a:r>
            <a:endParaRPr lang="en-US" sz="3200" smtClean="0">
              <a:latin typeface="Arial" charset="0"/>
            </a:endParaRP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153400" cy="41148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dirty="0" smtClean="0"/>
              <a:t>A </a:t>
            </a:r>
            <a:r>
              <a:rPr lang="en-US" sz="2400" dirty="0"/>
              <a:t>definition proposed by Fritz Bauer </a:t>
            </a:r>
            <a:r>
              <a:rPr lang="en-US" sz="2400" dirty="0" smtClean="0"/>
              <a:t>at </a:t>
            </a:r>
            <a:r>
              <a:rPr lang="en-US" sz="2400" dirty="0"/>
              <a:t>the seminal </a:t>
            </a:r>
            <a:r>
              <a:rPr lang="en-US" sz="2400" dirty="0" smtClean="0"/>
              <a:t>conference on </a:t>
            </a:r>
            <a:r>
              <a:rPr lang="en-US" sz="2400" dirty="0"/>
              <a:t>the subject still serves as a basis for discussion:</a:t>
            </a:r>
            <a:r>
              <a:rPr lang="en-US" sz="2400" dirty="0" smtClean="0"/>
              <a:t> </a:t>
            </a:r>
          </a:p>
          <a:p>
            <a:pPr lvl="1" algn="just" eaLnBrk="1" hangingPunct="1"/>
            <a:r>
              <a:rPr lang="en-US" sz="2400" dirty="0" smtClean="0"/>
              <a:t>(1969) Software engineering is the establishment and use of sound engineering principles in order to obtain economically software that is reliable and works efficiently on real machines</a:t>
            </a:r>
          </a:p>
          <a:p>
            <a:pPr algn="just" eaLnBrk="1" hangingPunct="1"/>
            <a:r>
              <a:rPr lang="en-US" sz="2800" dirty="0" smtClean="0"/>
              <a:t>(IEEE) The application of a systematic, disciplined, quantifiable approach to the development, operation, and maintenance of software; that is, the application of engineering to software</a:t>
            </a:r>
          </a:p>
        </p:txBody>
      </p:sp>
    </p:spTree>
    <p:extLst>
      <p:ext uri="{BB962C8B-B14F-4D97-AF65-F5344CB8AC3E}">
        <p14:creationId xmlns:p14="http://schemas.microsoft.com/office/powerpoint/2010/main" val="4084837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233414A-97DC-4ED8-95EA-6D14DE630CDA}" type="slidenum">
              <a:rPr lang="en-US" sz="1400" u="none" smtClean="0"/>
              <a:pPr eaLnBrk="1" hangingPunct="1"/>
              <a:t>15</a:t>
            </a:fld>
            <a:endParaRPr lang="en-US" sz="1400" u="none" smtClean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28600"/>
            <a:ext cx="7772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Software Engineering is a Layered Technology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8" y="2236206"/>
            <a:ext cx="9095874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606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F5214C9-3593-48C2-8E03-C281299614FB}" type="slidenum">
              <a:rPr lang="en-US" sz="1400" u="none" smtClean="0"/>
              <a:pPr eaLnBrk="1" hangingPunct="1"/>
              <a:t>16</a:t>
            </a:fld>
            <a:endParaRPr lang="en-US" sz="1400" u="none" smtClean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/>
              <a:t>Process, Methods, and Tools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52600"/>
            <a:ext cx="7924800" cy="4114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sz="2000" dirty="0" smtClean="0"/>
              <a:t>Process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1800" dirty="0" smtClean="0"/>
              <a:t>Provides the glue that holds the layers together; enables rational and timely development; provides a framework for effective delivery of technology; forms the basis for management; provides the context for technical methods, work products, milestones, quality measures, and change management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000" dirty="0" smtClean="0"/>
              <a:t>Methods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1800" dirty="0" smtClean="0"/>
              <a:t>Provide the technical "how to" for building software; rely on a set of basic principles; encompass a broad array of tasks; include modeling activities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000" dirty="0" smtClean="0"/>
              <a:t>Tools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1800" dirty="0" smtClean="0"/>
              <a:t>Provide automated or semi-automated support for the process and methods (i.e., CASE tools)</a:t>
            </a:r>
          </a:p>
        </p:txBody>
      </p:sp>
    </p:spTree>
    <p:extLst>
      <p:ext uri="{BB962C8B-B14F-4D97-AF65-F5344CB8AC3E}">
        <p14:creationId xmlns:p14="http://schemas.microsoft.com/office/powerpoint/2010/main" val="2541901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Software Process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</a:t>
            </a:r>
            <a:r>
              <a:rPr lang="en-US" i="1" dirty="0"/>
              <a:t>process </a:t>
            </a:r>
            <a:r>
              <a:rPr lang="en-US" dirty="0"/>
              <a:t>is a collection of activities, actions, and tasks that are performed </a:t>
            </a:r>
            <a:r>
              <a:rPr lang="en-US" dirty="0" smtClean="0"/>
              <a:t>when some </a:t>
            </a:r>
            <a:r>
              <a:rPr lang="en-US" dirty="0"/>
              <a:t>work product is to be created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Activity: An </a:t>
            </a:r>
            <a:r>
              <a:rPr lang="en-US" b="1" dirty="0"/>
              <a:t>activity</a:t>
            </a:r>
            <a:r>
              <a:rPr lang="en-US" dirty="0"/>
              <a:t> is a </a:t>
            </a:r>
            <a:r>
              <a:rPr lang="en-US" i="1" dirty="0"/>
              <a:t>big step</a:t>
            </a:r>
            <a:r>
              <a:rPr lang="en-US" dirty="0"/>
              <a:t> in the software process</a:t>
            </a:r>
            <a:r>
              <a:rPr lang="en-US" dirty="0" smtClean="0"/>
              <a:t>. It </a:t>
            </a:r>
            <a:r>
              <a:rPr lang="en-US" dirty="0"/>
              <a:t>has a broad purpose that applies to any project</a:t>
            </a:r>
            <a:r>
              <a:rPr lang="en-US" dirty="0" smtClean="0"/>
              <a:t>.</a:t>
            </a:r>
          </a:p>
          <a:p>
            <a:pPr marL="800100" lvl="2" indent="0">
              <a:buNone/>
            </a:pPr>
            <a:r>
              <a:rPr lang="en-IN" b="1" dirty="0"/>
              <a:t>Example</a:t>
            </a:r>
            <a:r>
              <a:rPr lang="en-IN" b="1" dirty="0" smtClean="0"/>
              <a:t>: </a:t>
            </a:r>
            <a:r>
              <a:rPr lang="en-IN" i="1" dirty="0" smtClean="0"/>
              <a:t>Communicating </a:t>
            </a:r>
            <a:r>
              <a:rPr lang="en-IN" i="1" dirty="0"/>
              <a:t>with customers</a:t>
            </a:r>
            <a:endParaRPr lang="en-IN" dirty="0"/>
          </a:p>
          <a:p>
            <a:pPr algn="just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453DEA-E59D-4FDC-913C-3BB41CE81061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342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Software Process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Action: </a:t>
            </a:r>
            <a:r>
              <a:rPr lang="en-US" dirty="0"/>
              <a:t>An </a:t>
            </a:r>
            <a:r>
              <a:rPr lang="en-US" b="1" dirty="0"/>
              <a:t>action</a:t>
            </a:r>
            <a:r>
              <a:rPr lang="en-US" dirty="0"/>
              <a:t> is a more </a:t>
            </a:r>
            <a:r>
              <a:rPr lang="en-US" i="1" dirty="0"/>
              <a:t>specific part</a:t>
            </a:r>
            <a:r>
              <a:rPr lang="en-US" dirty="0"/>
              <a:t> of an activity</a:t>
            </a:r>
            <a:r>
              <a:rPr lang="en-US" dirty="0" smtClean="0"/>
              <a:t>.</a:t>
            </a:r>
          </a:p>
          <a:p>
            <a:pPr marL="800100" lvl="2" indent="0">
              <a:buNone/>
            </a:pPr>
            <a:r>
              <a:rPr lang="en-US" b="1" dirty="0"/>
              <a:t>Example (inside Design Activity</a:t>
            </a:r>
            <a:r>
              <a:rPr lang="en-US" b="1" dirty="0" smtClean="0"/>
              <a:t>):</a:t>
            </a:r>
          </a:p>
          <a:p>
            <a:pPr lvl="2"/>
            <a:r>
              <a:rPr lang="en-US" dirty="0" smtClean="0"/>
              <a:t>Architectural design</a:t>
            </a:r>
          </a:p>
          <a:p>
            <a:pPr lvl="2"/>
            <a:r>
              <a:rPr lang="en-US" dirty="0" smtClean="0"/>
              <a:t>Interface design</a:t>
            </a:r>
          </a:p>
          <a:p>
            <a:pPr lvl="2"/>
            <a:r>
              <a:rPr lang="en-US" dirty="0" smtClean="0"/>
              <a:t>Database design</a:t>
            </a:r>
          </a:p>
          <a:p>
            <a:pPr marL="114300" indent="0" algn="just">
              <a:buNone/>
            </a:pPr>
            <a:r>
              <a:rPr lang="en-US" dirty="0"/>
              <a:t>These actions help achieve the big activity (designing the software).</a:t>
            </a:r>
          </a:p>
          <a:p>
            <a:endParaRPr lang="en-IN" dirty="0"/>
          </a:p>
          <a:p>
            <a:pPr algn="just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453DEA-E59D-4FDC-913C-3BB41CE81061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11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Software Process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/>
              <a:t>Task: </a:t>
            </a:r>
            <a:r>
              <a:rPr lang="en-US" dirty="0"/>
              <a:t>A </a:t>
            </a:r>
            <a:r>
              <a:rPr lang="en-US" b="1" dirty="0"/>
              <a:t>task</a:t>
            </a:r>
            <a:r>
              <a:rPr lang="en-US" dirty="0"/>
              <a:t> is a </a:t>
            </a:r>
            <a:r>
              <a:rPr lang="en-US" i="1" dirty="0"/>
              <a:t>small, well-defined piece of work</a:t>
            </a:r>
            <a:r>
              <a:rPr lang="en-US" dirty="0"/>
              <a:t> that one person can complete at a time</a:t>
            </a:r>
            <a:r>
              <a:rPr lang="en-US" dirty="0" smtClean="0"/>
              <a:t>.</a:t>
            </a:r>
          </a:p>
          <a:p>
            <a:pPr marL="800100" lvl="2" indent="0">
              <a:buNone/>
            </a:pPr>
            <a:r>
              <a:rPr lang="en-US" b="1" dirty="0"/>
              <a:t>Example (inside Testing Activity</a:t>
            </a:r>
            <a:r>
              <a:rPr lang="en-US" b="1" dirty="0" smtClean="0"/>
              <a:t>):</a:t>
            </a:r>
          </a:p>
          <a:p>
            <a:pPr lvl="2"/>
            <a:r>
              <a:rPr lang="en-US" dirty="0" smtClean="0"/>
              <a:t>Writing </a:t>
            </a:r>
            <a:r>
              <a:rPr lang="en-US" dirty="0"/>
              <a:t>a unit test</a:t>
            </a:r>
          </a:p>
          <a:p>
            <a:pPr lvl="2"/>
            <a:r>
              <a:rPr lang="en-US" dirty="0"/>
              <a:t>Running a test case</a:t>
            </a:r>
          </a:p>
          <a:p>
            <a:pPr lvl="2"/>
            <a:r>
              <a:rPr lang="en-US" dirty="0"/>
              <a:t>Logging a bug</a:t>
            </a:r>
          </a:p>
          <a:p>
            <a:pPr algn="just"/>
            <a:endParaRPr lang="en-US" dirty="0"/>
          </a:p>
          <a:p>
            <a:endParaRPr lang="en-IN" dirty="0"/>
          </a:p>
          <a:p>
            <a:pPr algn="just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453DEA-E59D-4FDC-913C-3BB41CE81061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213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1125"/>
            <a:ext cx="7772400" cy="1143000"/>
          </a:xfrm>
        </p:spPr>
        <p:txBody>
          <a:bodyPr/>
          <a:lstStyle/>
          <a:p>
            <a:r>
              <a:rPr lang="en-IN" dirty="0" smtClean="0"/>
              <a:t>Software Process - 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58" y="1143000"/>
            <a:ext cx="8956141" cy="5715000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Imagine you are building a small mobile app.</a:t>
            </a:r>
          </a:p>
          <a:p>
            <a:pPr marL="0" indent="0">
              <a:buNone/>
            </a:pPr>
            <a:r>
              <a:rPr lang="en-US" sz="2400" b="1" dirty="0"/>
              <a:t>Activity: Requirements </a:t>
            </a:r>
            <a:r>
              <a:rPr lang="en-US" sz="2400" b="1" dirty="0" smtClean="0"/>
              <a:t>gathering</a:t>
            </a:r>
          </a:p>
          <a:p>
            <a:pPr marL="0" indent="0">
              <a:buNone/>
            </a:pPr>
            <a:r>
              <a:rPr lang="en-US" sz="2400" dirty="0" smtClean="0"/>
              <a:t>Big </a:t>
            </a:r>
            <a:r>
              <a:rPr lang="en-US" sz="2400" dirty="0"/>
              <a:t>goal: Understand what the client wants.</a:t>
            </a:r>
          </a:p>
          <a:p>
            <a:pPr marL="0" indent="0">
              <a:buNone/>
            </a:pPr>
            <a:r>
              <a:rPr lang="en-US" sz="2400" b="1" dirty="0"/>
              <a:t>Actions inside this activity:</a:t>
            </a:r>
          </a:p>
          <a:p>
            <a:r>
              <a:rPr lang="en-US" sz="2400" dirty="0"/>
              <a:t>Conduct interviews</a:t>
            </a:r>
          </a:p>
          <a:p>
            <a:r>
              <a:rPr lang="en-US" sz="2400" dirty="0"/>
              <a:t>Review existing documents</a:t>
            </a:r>
          </a:p>
          <a:p>
            <a:r>
              <a:rPr lang="en-US" sz="2400" dirty="0"/>
              <a:t>Create requirement specification</a:t>
            </a:r>
          </a:p>
          <a:p>
            <a:pPr marL="0" indent="0">
              <a:buNone/>
            </a:pPr>
            <a:r>
              <a:rPr lang="en-US" sz="2400" b="1" dirty="0"/>
              <a:t>Tasks inside one action: "Conduct interviews":</a:t>
            </a:r>
          </a:p>
          <a:p>
            <a:r>
              <a:rPr lang="en-US" sz="2400" dirty="0"/>
              <a:t>Schedule meeting with client</a:t>
            </a:r>
          </a:p>
          <a:p>
            <a:r>
              <a:rPr lang="en-US" sz="2400" dirty="0"/>
              <a:t>Ask pre-decided questions</a:t>
            </a:r>
          </a:p>
          <a:p>
            <a:r>
              <a:rPr lang="en-US" sz="2400" dirty="0"/>
              <a:t>Record the answers</a:t>
            </a:r>
          </a:p>
          <a:p>
            <a:r>
              <a:rPr lang="en-US" sz="2400" dirty="0"/>
              <a:t>Prepare summary notes</a:t>
            </a:r>
          </a:p>
          <a:p>
            <a:pPr marL="0" indent="0" algn="just">
              <a:buNone/>
            </a:pPr>
            <a:endParaRPr lang="en-US" sz="1800" dirty="0"/>
          </a:p>
          <a:p>
            <a:endParaRPr lang="en-IN" sz="1800" dirty="0"/>
          </a:p>
          <a:p>
            <a:pPr algn="just"/>
            <a:endParaRPr lang="en-IN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453DEA-E59D-4FDC-913C-3BB41CE81061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479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A2D633DE-60D2-4EF0-AA6F-E8E52DF95A2A}" type="slidenum">
              <a:rPr lang="en-US" sz="1400" u="none" smtClean="0"/>
              <a:pPr eaLnBrk="1" hangingPunct="1"/>
              <a:t>21</a:t>
            </a:fld>
            <a:endParaRPr lang="en-US" sz="1400" u="none" smtClean="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/>
              <a:t>Generic Process Framework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8610600" cy="4114800"/>
          </a:xfrm>
        </p:spPr>
        <p:txBody>
          <a:bodyPr/>
          <a:lstStyle/>
          <a:p>
            <a:pPr algn="just"/>
            <a:r>
              <a:rPr lang="en-US" sz="2800" dirty="0"/>
              <a:t>A </a:t>
            </a:r>
            <a:r>
              <a:rPr lang="en-US" sz="2800" i="1" dirty="0"/>
              <a:t>process framework </a:t>
            </a:r>
            <a:r>
              <a:rPr lang="en-US" sz="2800" dirty="0"/>
              <a:t>establishes the foundation for a complete software </a:t>
            </a:r>
            <a:r>
              <a:rPr lang="en-US" sz="2800" dirty="0" smtClean="0"/>
              <a:t>engineering process </a:t>
            </a:r>
            <a:r>
              <a:rPr lang="en-US" sz="2800" dirty="0"/>
              <a:t>by identifying a small number of </a:t>
            </a:r>
            <a:r>
              <a:rPr lang="en-US" sz="2800" i="1" dirty="0"/>
              <a:t>framework activities </a:t>
            </a:r>
            <a:r>
              <a:rPr lang="en-US" sz="2800" dirty="0"/>
              <a:t>that are </a:t>
            </a:r>
            <a:r>
              <a:rPr lang="en-US" sz="2800" dirty="0" smtClean="0"/>
              <a:t>applicable to </a:t>
            </a:r>
            <a:r>
              <a:rPr lang="en-US" sz="2800" dirty="0"/>
              <a:t>all software projects, regardless of their size or complexity. </a:t>
            </a:r>
            <a:endParaRPr lang="en-US" sz="2800" dirty="0" smtClean="0"/>
          </a:p>
          <a:p>
            <a:pPr algn="just"/>
            <a:r>
              <a:rPr lang="en-US" sz="2800" dirty="0" smtClean="0"/>
              <a:t>In </a:t>
            </a:r>
            <a:r>
              <a:rPr lang="en-US" sz="2800" dirty="0"/>
              <a:t>addition, </a:t>
            </a:r>
            <a:r>
              <a:rPr lang="en-US" sz="2800" dirty="0" smtClean="0"/>
              <a:t>the process </a:t>
            </a:r>
            <a:r>
              <a:rPr lang="en-US" sz="2800" dirty="0"/>
              <a:t>framework encompasses a set of </a:t>
            </a:r>
            <a:r>
              <a:rPr lang="en-US" sz="2800" i="1" dirty="0"/>
              <a:t>umbrella activities </a:t>
            </a:r>
            <a:r>
              <a:rPr lang="en-US" sz="2800" dirty="0"/>
              <a:t>that are </a:t>
            </a:r>
            <a:r>
              <a:rPr lang="en-US" sz="2800" dirty="0" smtClean="0"/>
              <a:t>applicable across </a:t>
            </a:r>
            <a:r>
              <a:rPr lang="en-US" sz="2800" dirty="0"/>
              <a:t>the entire software process.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96912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A2D633DE-60D2-4EF0-AA6F-E8E52DF95A2A}" type="slidenum">
              <a:rPr lang="en-US" sz="1400" u="none" smtClean="0"/>
              <a:pPr eaLnBrk="1" hangingPunct="1"/>
              <a:t>22</a:t>
            </a:fld>
            <a:endParaRPr lang="en-US" sz="1400" u="none" smtClean="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/>
              <a:t>Generic Process Framework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8610600" cy="4114800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sz="2000" dirty="0"/>
              <a:t>A generic process framework for software </a:t>
            </a:r>
            <a:r>
              <a:rPr lang="en-US" sz="2000" dirty="0" smtClean="0"/>
              <a:t>engineering </a:t>
            </a:r>
            <a:r>
              <a:rPr lang="en-IN" sz="2000" dirty="0" smtClean="0"/>
              <a:t>encompasses </a:t>
            </a:r>
            <a:r>
              <a:rPr lang="en-IN" sz="2000" dirty="0"/>
              <a:t>five activities:</a:t>
            </a:r>
            <a:endParaRPr lang="en-US" sz="2000" dirty="0" smtClean="0"/>
          </a:p>
          <a:p>
            <a:pPr algn="just" eaLnBrk="1" hangingPunct="1">
              <a:lnSpc>
                <a:spcPct val="90000"/>
              </a:lnSpc>
            </a:pPr>
            <a:r>
              <a:rPr lang="en-US" sz="2000" dirty="0" smtClean="0"/>
              <a:t>Communication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1800" dirty="0" smtClean="0"/>
              <a:t>Involves communication among the customer and other stake holders; encompasses requirements gathering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000" dirty="0" smtClean="0"/>
              <a:t>Planning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1800" dirty="0" smtClean="0"/>
              <a:t>Establishes a plan for software engineering work; addresses technical tasks, resources, work products, and work schedule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000" dirty="0" smtClean="0"/>
              <a:t>Modeling (Analyze, Design)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1800" dirty="0" smtClean="0"/>
              <a:t>Encompasses the creation of models to better understand the requirements and the design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000" dirty="0" smtClean="0"/>
              <a:t>Construction (Code, Test)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1800" dirty="0" smtClean="0"/>
              <a:t>Combines code generation and testing to uncover errors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000" dirty="0" smtClean="0"/>
              <a:t>Deployment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1800" dirty="0" smtClean="0"/>
              <a:t>Involves delivery of software to the customer for evaluation and feedback</a:t>
            </a:r>
          </a:p>
        </p:txBody>
      </p:sp>
    </p:spTree>
    <p:extLst>
      <p:ext uri="{BB962C8B-B14F-4D97-AF65-F5344CB8AC3E}">
        <p14:creationId xmlns:p14="http://schemas.microsoft.com/office/powerpoint/2010/main" val="1915543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A762BCC-A577-4B34-9306-813AC01C7937}" type="slidenum">
              <a:rPr lang="en-US" sz="1400" u="none" smtClean="0"/>
              <a:pPr eaLnBrk="1" hangingPunct="1"/>
              <a:t>23</a:t>
            </a:fld>
            <a:endParaRPr lang="en-US" sz="1400" u="none" smtClean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/>
              <a:t>Umbrella Activities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114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sz="2000" dirty="0" smtClean="0"/>
              <a:t>Software project tracking and control</a:t>
            </a:r>
          </a:p>
          <a:p>
            <a:pPr eaLnBrk="1" hangingPunct="1">
              <a:lnSpc>
                <a:spcPct val="150000"/>
              </a:lnSpc>
            </a:pPr>
            <a:r>
              <a:rPr lang="en-IN" sz="2000" dirty="0"/>
              <a:t>Risk management</a:t>
            </a:r>
            <a:endParaRPr lang="en-US" sz="2000" dirty="0" smtClean="0"/>
          </a:p>
          <a:p>
            <a:pPr eaLnBrk="1" hangingPunct="1">
              <a:lnSpc>
                <a:spcPct val="150000"/>
              </a:lnSpc>
            </a:pPr>
            <a:r>
              <a:rPr lang="en-US" sz="2000" dirty="0" smtClean="0"/>
              <a:t>Software quality assurance</a:t>
            </a:r>
          </a:p>
          <a:p>
            <a:pPr eaLnBrk="1" hangingPunct="1">
              <a:lnSpc>
                <a:spcPct val="150000"/>
              </a:lnSpc>
            </a:pPr>
            <a:r>
              <a:rPr lang="en-US" sz="2000" dirty="0" smtClean="0"/>
              <a:t>Software configuration management</a:t>
            </a:r>
          </a:p>
          <a:p>
            <a:pPr eaLnBrk="1" hangingPunct="1">
              <a:lnSpc>
                <a:spcPct val="150000"/>
              </a:lnSpc>
            </a:pPr>
            <a:r>
              <a:rPr lang="en-US" sz="2000" dirty="0" smtClean="0"/>
              <a:t>Formal technical reviews</a:t>
            </a:r>
          </a:p>
          <a:p>
            <a:pPr eaLnBrk="1" hangingPunct="1">
              <a:lnSpc>
                <a:spcPct val="150000"/>
              </a:lnSpc>
            </a:pPr>
            <a:r>
              <a:rPr lang="en-US" sz="2000" dirty="0" smtClean="0"/>
              <a:t>Measurement – process, project, product</a:t>
            </a:r>
          </a:p>
          <a:p>
            <a:pPr eaLnBrk="1" hangingPunct="1">
              <a:lnSpc>
                <a:spcPct val="150000"/>
              </a:lnSpc>
            </a:pPr>
            <a:r>
              <a:rPr lang="en-US" sz="2000" dirty="0" smtClean="0"/>
              <a:t>Reusability management (component reuse)</a:t>
            </a:r>
          </a:p>
          <a:p>
            <a:pPr eaLnBrk="1" hangingPunct="1">
              <a:lnSpc>
                <a:spcPct val="150000"/>
              </a:lnSpc>
            </a:pPr>
            <a:r>
              <a:rPr lang="en-US" sz="2000" dirty="0" smtClean="0"/>
              <a:t>Work product preparation and production</a:t>
            </a:r>
          </a:p>
        </p:txBody>
      </p:sp>
    </p:spTree>
    <p:extLst>
      <p:ext uri="{BB962C8B-B14F-4D97-AF65-F5344CB8AC3E}">
        <p14:creationId xmlns:p14="http://schemas.microsoft.com/office/powerpoint/2010/main" val="384700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IN" sz="4000" dirty="0"/>
              <a:t>SOFTWARE ENGINEERING </a:t>
            </a:r>
            <a:r>
              <a:rPr lang="en-IN" sz="4000" dirty="0" smtClean="0"/>
              <a:t>PRACTICE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41148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dirty="0"/>
              <a:t>generic software process model composed of a set </a:t>
            </a:r>
            <a:r>
              <a:rPr lang="en-US" dirty="0" smtClean="0"/>
              <a:t>of activities </a:t>
            </a:r>
            <a:r>
              <a:rPr lang="en-US" dirty="0"/>
              <a:t>that establish a framework for software engineering practice. </a:t>
            </a:r>
            <a:endParaRPr lang="en-US" dirty="0" smtClean="0"/>
          </a:p>
          <a:p>
            <a:pPr algn="just"/>
            <a:r>
              <a:rPr lang="en-US" dirty="0" smtClean="0"/>
              <a:t>Generic framework </a:t>
            </a:r>
            <a:r>
              <a:rPr lang="en-US" dirty="0"/>
              <a:t>activities</a:t>
            </a:r>
            <a:r>
              <a:rPr lang="en-US" dirty="0" smtClean="0"/>
              <a:t>— C</a:t>
            </a:r>
            <a:r>
              <a:rPr lang="en-US" b="1" dirty="0" smtClean="0"/>
              <a:t>ommunication</a:t>
            </a:r>
            <a:r>
              <a:rPr lang="en-US" b="1" dirty="0"/>
              <a:t>, planning, modeling, construction, </a:t>
            </a:r>
            <a:r>
              <a:rPr lang="en-US" dirty="0" smtClean="0"/>
              <a:t>and </a:t>
            </a:r>
            <a:r>
              <a:rPr lang="en-US" b="1" dirty="0" smtClean="0"/>
              <a:t>deployment</a:t>
            </a:r>
            <a:r>
              <a:rPr lang="en-US" dirty="0" smtClean="0"/>
              <a:t>—and </a:t>
            </a:r>
            <a:r>
              <a:rPr lang="en-US" dirty="0"/>
              <a:t>umbrella activities establish a skeleton architecture for </a:t>
            </a:r>
            <a:r>
              <a:rPr lang="en-US" dirty="0" smtClean="0"/>
              <a:t>software engineering </a:t>
            </a:r>
            <a:r>
              <a:rPr lang="en-US" dirty="0"/>
              <a:t>work. </a:t>
            </a:r>
            <a:endParaRPr lang="en-US" dirty="0" smtClean="0"/>
          </a:p>
          <a:p>
            <a:pPr algn="just"/>
            <a:r>
              <a:rPr lang="en-US" dirty="0" smtClean="0"/>
              <a:t>But </a:t>
            </a:r>
            <a:r>
              <a:rPr lang="en-US" dirty="0"/>
              <a:t>how does the practice of software engineering fit in?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453DEA-E59D-4FDC-913C-3BB41CE81061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1365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0929A0E3-8D59-4E0F-BA6F-B40466347EE5}" type="slidenum">
              <a:rPr lang="en-US" sz="1400" u="none" smtClean="0"/>
              <a:pPr eaLnBrk="1" hangingPunct="1"/>
              <a:t>25</a:t>
            </a:fld>
            <a:endParaRPr lang="en-US" sz="1400" u="none" smtClean="0"/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The Essence of </a:t>
            </a:r>
            <a:r>
              <a:rPr lang="en-US" dirty="0"/>
              <a:t>Practice</a:t>
            </a:r>
            <a:endParaRPr lang="en-US" dirty="0" smtClean="0"/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114800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000" dirty="0" smtClean="0"/>
              <a:t>Understand the problem (communication and analysis): </a:t>
            </a:r>
            <a:r>
              <a:rPr lang="en-US" sz="2000" dirty="0"/>
              <a:t>U</a:t>
            </a:r>
            <a:r>
              <a:rPr lang="en-US" sz="2000" dirty="0" smtClean="0"/>
              <a:t>nderstanding </a:t>
            </a:r>
            <a:r>
              <a:rPr lang="en-US" sz="2000" dirty="0"/>
              <a:t>isn’t always that easy. It’s worth spending a little time answering </a:t>
            </a:r>
            <a:r>
              <a:rPr lang="en-US" sz="2000" dirty="0" smtClean="0"/>
              <a:t>a </a:t>
            </a:r>
            <a:r>
              <a:rPr lang="en-IN" sz="2000" dirty="0" smtClean="0"/>
              <a:t>few </a:t>
            </a:r>
            <a:r>
              <a:rPr lang="en-IN" sz="2000" dirty="0"/>
              <a:t>simple questions:</a:t>
            </a:r>
            <a:endParaRPr lang="en-US" sz="2000" dirty="0" smtClean="0"/>
          </a:p>
          <a:p>
            <a:pPr marL="990600" lvl="1" indent="-533400" eaLnBrk="1" hangingPunct="1">
              <a:buFontTx/>
              <a:buChar char="•"/>
            </a:pPr>
            <a:r>
              <a:rPr lang="en-US" sz="1800" dirty="0" smtClean="0"/>
              <a:t>Who has a stake in the solution to the problem?</a:t>
            </a:r>
          </a:p>
          <a:p>
            <a:pPr marL="990600" lvl="1" indent="-533400" eaLnBrk="1" hangingPunct="1">
              <a:buFontTx/>
              <a:buChar char="•"/>
            </a:pPr>
            <a:r>
              <a:rPr lang="en-US" sz="1800" dirty="0" smtClean="0"/>
              <a:t>What are the unknowns (data, function, behavior)?</a:t>
            </a:r>
          </a:p>
          <a:p>
            <a:pPr marL="990600" lvl="1" indent="-533400" eaLnBrk="1" hangingPunct="1">
              <a:buFontTx/>
              <a:buChar char="•"/>
            </a:pPr>
            <a:r>
              <a:rPr lang="en-US" sz="1800" dirty="0" smtClean="0"/>
              <a:t>Can the problem be compartmentalized?</a:t>
            </a:r>
          </a:p>
          <a:p>
            <a:pPr marL="990600" lvl="1" indent="-533400" eaLnBrk="1" hangingPunct="1">
              <a:buFontTx/>
              <a:buChar char="•"/>
            </a:pPr>
            <a:r>
              <a:rPr lang="en-US" sz="1800" dirty="0" smtClean="0"/>
              <a:t>Can the problem be represented graphically?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sz="2000" dirty="0" smtClean="0"/>
              <a:t>Plan a solution (modeling and software design)</a:t>
            </a:r>
          </a:p>
          <a:p>
            <a:pPr marL="990600" lvl="1" indent="-533400" eaLnBrk="1" hangingPunct="1">
              <a:buFontTx/>
              <a:buChar char="•"/>
            </a:pPr>
            <a:r>
              <a:rPr lang="en-US" sz="1800" dirty="0" smtClean="0"/>
              <a:t>Have you seen similar problems before?</a:t>
            </a:r>
          </a:p>
          <a:p>
            <a:pPr marL="990600" lvl="1" indent="-533400" eaLnBrk="1" hangingPunct="1">
              <a:buFontTx/>
              <a:buChar char="•"/>
            </a:pPr>
            <a:r>
              <a:rPr lang="en-US" sz="1800" dirty="0" smtClean="0"/>
              <a:t>Has a similar problem been solved and is the solution reusable?</a:t>
            </a:r>
          </a:p>
          <a:p>
            <a:pPr marL="990600" lvl="1" indent="-533400" eaLnBrk="1" hangingPunct="1">
              <a:buFontTx/>
              <a:buChar char="•"/>
            </a:pPr>
            <a:r>
              <a:rPr lang="en-US" sz="1800" dirty="0" smtClean="0"/>
              <a:t>Can </a:t>
            </a:r>
            <a:r>
              <a:rPr lang="en-US" sz="1800" dirty="0" err="1" smtClean="0"/>
              <a:t>subproblems</a:t>
            </a:r>
            <a:r>
              <a:rPr lang="en-US" sz="1800" dirty="0" smtClean="0"/>
              <a:t> be defined and are solutions available for the </a:t>
            </a:r>
            <a:r>
              <a:rPr lang="en-US" sz="1800" dirty="0" err="1" smtClean="0"/>
              <a:t>subproblems</a:t>
            </a:r>
            <a:r>
              <a:rPr lang="en-US" sz="1800" dirty="0" smtClean="0"/>
              <a:t>?</a:t>
            </a:r>
          </a:p>
          <a:p>
            <a:pPr marL="990600" lvl="1" indent="-533400" eaLnBrk="1" hangingPunct="1">
              <a:buFontTx/>
              <a:buChar char="•"/>
            </a:pPr>
            <a:r>
              <a:rPr lang="en-US" sz="1800" dirty="0"/>
              <a:t>Can you represent a solution in a manner that leads to effective implementation?</a:t>
            </a:r>
          </a:p>
          <a:p>
            <a:pPr marL="609600" indent="-609600" eaLnBrk="1" hangingPunct="1">
              <a:buFontTx/>
              <a:buAutoNum type="arabicParenR"/>
            </a:pPr>
            <a:endParaRPr lang="en-US" sz="2000" dirty="0" smtClean="0"/>
          </a:p>
          <a:p>
            <a:pPr marL="609600" indent="-609600" eaLnBrk="1" hangingPunct="1"/>
            <a:endParaRPr lang="en-US" sz="2000" dirty="0" smtClean="0"/>
          </a:p>
        </p:txBody>
      </p:sp>
      <p:sp>
        <p:nvSpPr>
          <p:cNvPr id="70661" name="Text Box 4"/>
          <p:cNvSpPr txBox="1">
            <a:spLocks noChangeArrowheads="1"/>
          </p:cNvSpPr>
          <p:nvPr/>
        </p:nvSpPr>
        <p:spPr bwMode="auto">
          <a:xfrm>
            <a:off x="4468813" y="6019800"/>
            <a:ext cx="260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u="non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88651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2EAE5C7-70F0-4B04-9602-B2AE37ABC005}" type="slidenum">
              <a:rPr lang="en-US" sz="1400" u="none" smtClean="0"/>
              <a:pPr eaLnBrk="1" hangingPunct="1"/>
              <a:t>26</a:t>
            </a:fld>
            <a:endParaRPr lang="en-US" sz="1400" u="none" smtClean="0"/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/>
              <a:t>The Essence of Practice (</a:t>
            </a:r>
            <a:r>
              <a:rPr lang="en-US" dirty="0"/>
              <a:t>continued</a:t>
            </a:r>
            <a:r>
              <a:rPr lang="en-US" dirty="0" smtClean="0"/>
              <a:t>)</a:t>
            </a:r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114800"/>
          </a:xfrm>
        </p:spPr>
        <p:txBody>
          <a:bodyPr/>
          <a:lstStyle/>
          <a:p>
            <a:pPr marL="609600" indent="-609600" eaLnBrk="1" hangingPunct="1">
              <a:buFontTx/>
              <a:buAutoNum type="arabicParenR" startAt="3"/>
            </a:pPr>
            <a:r>
              <a:rPr lang="en-US" sz="2000" dirty="0" smtClean="0"/>
              <a:t>Carry out the plan (code generation)</a:t>
            </a:r>
          </a:p>
          <a:p>
            <a:pPr marL="990600" lvl="1" indent="-533400" eaLnBrk="1" hangingPunct="1">
              <a:buFontTx/>
              <a:buChar char="•"/>
            </a:pPr>
            <a:r>
              <a:rPr lang="en-US" sz="1800" dirty="0" smtClean="0"/>
              <a:t>Does the solution conform to the plan? Is the source code traceable back to the design?</a:t>
            </a:r>
          </a:p>
          <a:p>
            <a:pPr marL="990600" lvl="1" indent="-533400" eaLnBrk="1" hangingPunct="1">
              <a:buFontTx/>
              <a:buChar char="•"/>
            </a:pPr>
            <a:r>
              <a:rPr lang="en-US" sz="1800" dirty="0" smtClean="0"/>
              <a:t>Is each component of the solution correct? Has the design and code been reviewed?</a:t>
            </a:r>
          </a:p>
          <a:p>
            <a:pPr marL="609600" indent="-609600" eaLnBrk="1" hangingPunct="1">
              <a:buFontTx/>
              <a:buAutoNum type="arabicParenR" startAt="3"/>
            </a:pPr>
            <a:r>
              <a:rPr lang="en-US" sz="2000" dirty="0" smtClean="0"/>
              <a:t>Examine the results for accuracy (testing and quality assurance) </a:t>
            </a:r>
          </a:p>
          <a:p>
            <a:pPr marL="990600" lvl="1" indent="-533400" eaLnBrk="1" hangingPunct="1">
              <a:buFontTx/>
              <a:buChar char="•"/>
            </a:pPr>
            <a:r>
              <a:rPr lang="en-US" sz="1800" dirty="0" smtClean="0"/>
              <a:t>Is it possible to test each component of the solution?</a:t>
            </a:r>
          </a:p>
          <a:p>
            <a:pPr marL="990600" lvl="1" indent="-533400" eaLnBrk="1" hangingPunct="1">
              <a:buFontTx/>
              <a:buChar char="•"/>
            </a:pPr>
            <a:r>
              <a:rPr lang="en-US" sz="1800" dirty="0" smtClean="0"/>
              <a:t>Does the solution produce results that conform to the data, function, and behavior that are required?</a:t>
            </a:r>
          </a:p>
          <a:p>
            <a:pPr marL="990600" lvl="1" indent="-533400" eaLnBrk="1" hangingPunct="1">
              <a:buFontTx/>
              <a:buAutoNum type="arabicParenR"/>
            </a:pPr>
            <a:endParaRPr lang="en-US" sz="1800" dirty="0" smtClean="0"/>
          </a:p>
        </p:txBody>
      </p:sp>
      <p:sp>
        <p:nvSpPr>
          <p:cNvPr id="71685" name="Text Box 4"/>
          <p:cNvSpPr txBox="1">
            <a:spLocks noChangeArrowheads="1"/>
          </p:cNvSpPr>
          <p:nvPr/>
        </p:nvSpPr>
        <p:spPr bwMode="auto">
          <a:xfrm>
            <a:off x="4468813" y="6019800"/>
            <a:ext cx="260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u="non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87668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6D1CC3C-C3DC-4133-AF69-5C8CBFC3EB35}" type="slidenum">
              <a:rPr lang="en-US" sz="1400" u="none" smtClean="0"/>
              <a:pPr eaLnBrk="1" hangingPunct="1"/>
              <a:t>27</a:t>
            </a:fld>
            <a:endParaRPr lang="en-US" sz="1400" u="none" smtClean="0"/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smtClean="0"/>
              <a:t>Seven Core Principles for Software Engineering</a:t>
            </a:r>
          </a:p>
        </p:txBody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229600" cy="41148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  <a:buFontTx/>
              <a:buAutoNum type="arabicParenR"/>
            </a:pPr>
            <a:r>
              <a:rPr lang="en-US" sz="2000" dirty="0" smtClean="0"/>
              <a:t>Remember the reason that the software exists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US" sz="1800" dirty="0" smtClean="0"/>
              <a:t>The software should provide value to its users and satisfy the requirements</a:t>
            </a:r>
          </a:p>
          <a:p>
            <a:pPr eaLnBrk="1" hangingPunct="1">
              <a:lnSpc>
                <a:spcPct val="80000"/>
              </a:lnSpc>
              <a:buFontTx/>
              <a:buAutoNum type="arabicParenR"/>
            </a:pPr>
            <a:r>
              <a:rPr lang="en-US" sz="2000" dirty="0" smtClean="0"/>
              <a:t>Keep it simple, stupid (KISS)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US" sz="1800" dirty="0" smtClean="0"/>
              <a:t>All design and implementation should be as simple as possible</a:t>
            </a:r>
          </a:p>
          <a:p>
            <a:pPr eaLnBrk="1" hangingPunct="1">
              <a:lnSpc>
                <a:spcPct val="80000"/>
              </a:lnSpc>
              <a:buFontTx/>
              <a:buAutoNum type="arabicParenR"/>
            </a:pPr>
            <a:r>
              <a:rPr lang="en-US" sz="2000" dirty="0" smtClean="0"/>
              <a:t>Maintain the vision of the project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US" sz="1800" dirty="0" smtClean="0"/>
              <a:t>A clear vision is essential to the project’s success</a:t>
            </a:r>
          </a:p>
          <a:p>
            <a:pPr eaLnBrk="1" hangingPunct="1">
              <a:lnSpc>
                <a:spcPct val="80000"/>
              </a:lnSpc>
              <a:buFontTx/>
              <a:buAutoNum type="arabicParenR"/>
            </a:pPr>
            <a:r>
              <a:rPr lang="en-US" sz="2000" dirty="0" smtClean="0"/>
              <a:t>What </a:t>
            </a:r>
            <a:r>
              <a:rPr lang="en-US" sz="2000" dirty="0"/>
              <a:t>you </a:t>
            </a:r>
            <a:r>
              <a:rPr lang="en-US" sz="2000" dirty="0" smtClean="0"/>
              <a:t>produce, </a:t>
            </a:r>
            <a:r>
              <a:rPr lang="en-US" sz="2000" dirty="0"/>
              <a:t>Others </a:t>
            </a:r>
            <a:r>
              <a:rPr lang="en-US" sz="2000" dirty="0" smtClean="0"/>
              <a:t>will consume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US" sz="1800" dirty="0" smtClean="0"/>
              <a:t>Always specify, design, and implement knowing that someone else will later have to understand and modify what you did</a:t>
            </a:r>
          </a:p>
          <a:p>
            <a:pPr eaLnBrk="1" hangingPunct="1">
              <a:lnSpc>
                <a:spcPct val="80000"/>
              </a:lnSpc>
              <a:buFontTx/>
              <a:buAutoNum type="arabicParenR"/>
            </a:pPr>
            <a:r>
              <a:rPr lang="en-US" sz="2000" dirty="0" smtClean="0"/>
              <a:t>Be open to the future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US" sz="1800" dirty="0" smtClean="0"/>
              <a:t>Never design yourself into a corner; build software that can be easily changed and adapted </a:t>
            </a:r>
          </a:p>
          <a:p>
            <a:pPr eaLnBrk="1" hangingPunct="1">
              <a:lnSpc>
                <a:spcPct val="80000"/>
              </a:lnSpc>
              <a:buFontTx/>
              <a:buAutoNum type="arabicParenR"/>
            </a:pPr>
            <a:r>
              <a:rPr lang="en-US" sz="2000" dirty="0" smtClean="0"/>
              <a:t>Plan ahead for software reuse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US" sz="1800" dirty="0" smtClean="0"/>
              <a:t>Reuse of software reduces the long-term cost and increases the value of the program and the reusable components</a:t>
            </a:r>
          </a:p>
          <a:p>
            <a:pPr eaLnBrk="1" hangingPunct="1">
              <a:lnSpc>
                <a:spcPct val="80000"/>
              </a:lnSpc>
              <a:buFontTx/>
              <a:buAutoNum type="arabicParenR"/>
            </a:pPr>
            <a:r>
              <a:rPr lang="en-US" sz="2000" dirty="0" smtClean="0"/>
              <a:t>Think, then act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US" sz="1800" dirty="0" smtClean="0"/>
              <a:t>Placing clear, complete thought before action will almost always produce better results</a:t>
            </a:r>
          </a:p>
        </p:txBody>
      </p:sp>
    </p:spTree>
    <p:extLst>
      <p:ext uri="{BB962C8B-B14F-4D97-AF65-F5344CB8AC3E}">
        <p14:creationId xmlns:p14="http://schemas.microsoft.com/office/powerpoint/2010/main" val="1827359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E73E2E91-F2CA-4157-90CB-4B746E3FFE54}" type="slidenum">
              <a:rPr lang="en-US" sz="1400" u="none" smtClean="0"/>
              <a:pPr eaLnBrk="1" hangingPunct="1"/>
              <a:t>28</a:t>
            </a:fld>
            <a:endParaRPr lang="en-US" sz="1400" u="none" smtClean="0"/>
          </a:p>
        </p:txBody>
      </p:sp>
      <p:sp>
        <p:nvSpPr>
          <p:cNvPr id="36867" name="Text Box 2"/>
          <p:cNvSpPr txBox="1">
            <a:spLocks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>
              <a:lnSpc>
                <a:spcPct val="9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fld id="{574C36F4-EC56-4707-B7DD-D8587229D5A6}" type="slidenum">
              <a:rPr lang="en-GB" sz="1400" u="none"/>
              <a:pPr algn="r" eaLnBrk="1" hangingPunct="1">
                <a:lnSpc>
                  <a:spcPct val="95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t>28</a:t>
            </a:fld>
            <a:endParaRPr lang="en-GB" sz="1400" u="none"/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 lIns="90000" tIns="46800" rIns="90000" bIns="46800"/>
          <a:lstStyle/>
          <a:p>
            <a:pPr defTabSz="457200" eaLnBrk="1" hangingPunct="1"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/>
              <a:t>Generic Process Model</a:t>
            </a:r>
          </a:p>
        </p:txBody>
      </p:sp>
      <p:sp>
        <p:nvSpPr>
          <p:cNvPr id="3686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10600" cy="5676900"/>
          </a:xfrm>
        </p:spPr>
        <p:txBody>
          <a:bodyPr lIns="90000" tIns="46800" rIns="90000" bIns="46800"/>
          <a:lstStyle/>
          <a:p>
            <a:pPr algn="just">
              <a:lnSpc>
                <a:spcPct val="150000"/>
              </a:lnSpc>
            </a:pPr>
            <a:r>
              <a:rPr lang="en-US" sz="2400" i="1" dirty="0"/>
              <a:t>process flow</a:t>
            </a:r>
            <a:r>
              <a:rPr lang="en-US" sz="2400" dirty="0"/>
              <a:t>—describes how the </a:t>
            </a:r>
            <a:r>
              <a:rPr lang="en-US" sz="2400" dirty="0" smtClean="0"/>
              <a:t>framework activities </a:t>
            </a:r>
            <a:r>
              <a:rPr lang="en-US" sz="2400" dirty="0"/>
              <a:t>and the actions and tasks that occur within each </a:t>
            </a:r>
            <a:r>
              <a:rPr lang="en-US" sz="2400" dirty="0" smtClean="0"/>
              <a:t>framework activity </a:t>
            </a:r>
            <a:r>
              <a:rPr lang="en-US" sz="2400" dirty="0"/>
              <a:t>are organized with respect to sequence and time and is illustrated </a:t>
            </a:r>
            <a:r>
              <a:rPr lang="en-US" sz="2400" dirty="0" smtClean="0"/>
              <a:t>in </a:t>
            </a:r>
            <a:r>
              <a:rPr lang="en-IN" sz="2400" dirty="0" smtClean="0"/>
              <a:t>Figure </a:t>
            </a:r>
            <a:r>
              <a:rPr lang="en-IN" sz="2400" dirty="0"/>
              <a:t>2.2.</a:t>
            </a:r>
            <a:endParaRPr lang="en-GB" sz="2400" dirty="0" smtClean="0"/>
          </a:p>
        </p:txBody>
      </p:sp>
    </p:spTree>
    <p:extLst>
      <p:ext uri="{BB962C8B-B14F-4D97-AF65-F5344CB8AC3E}">
        <p14:creationId xmlns:p14="http://schemas.microsoft.com/office/powerpoint/2010/main" val="189191883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453DEA-E59D-4FDC-913C-3BB41CE81061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6993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59546"/>
            <a:ext cx="6096000" cy="6498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0838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943600"/>
          </a:xfrm>
        </p:spPr>
        <p:txBody>
          <a:bodyPr/>
          <a:lstStyle/>
          <a:p>
            <a:pPr algn="just"/>
            <a:r>
              <a:rPr lang="en-US" sz="2400" dirty="0"/>
              <a:t>A </a:t>
            </a:r>
            <a:r>
              <a:rPr lang="en-US" sz="2400" i="1" dirty="0"/>
              <a:t>linear process flow </a:t>
            </a:r>
            <a:r>
              <a:rPr lang="en-US" sz="2400" dirty="0"/>
              <a:t>executes each of the five framework activities in sequence</a:t>
            </a:r>
            <a:r>
              <a:rPr lang="en-US" sz="2400" dirty="0" smtClean="0"/>
              <a:t>, beginning </a:t>
            </a:r>
            <a:r>
              <a:rPr lang="en-US" sz="2400" dirty="0"/>
              <a:t>with communication and culminating with deployment (Figure 2.2a). </a:t>
            </a:r>
            <a:endParaRPr lang="en-US" sz="2400" dirty="0" smtClean="0"/>
          </a:p>
          <a:p>
            <a:pPr algn="just"/>
            <a:r>
              <a:rPr lang="en-US" sz="2400" dirty="0" smtClean="0"/>
              <a:t>An </a:t>
            </a:r>
            <a:r>
              <a:rPr lang="en-US" sz="2400" i="1" dirty="0" smtClean="0"/>
              <a:t>iterative </a:t>
            </a:r>
            <a:r>
              <a:rPr lang="en-US" sz="2400" i="1" dirty="0"/>
              <a:t>process flow </a:t>
            </a:r>
            <a:r>
              <a:rPr lang="en-US" sz="2400" dirty="0"/>
              <a:t>repeats one or more of the activities before proceeding </a:t>
            </a:r>
            <a:r>
              <a:rPr lang="en-US" sz="2400"/>
              <a:t>to </a:t>
            </a:r>
            <a:r>
              <a:rPr lang="en-US" sz="2400" smtClean="0"/>
              <a:t>the next </a:t>
            </a:r>
            <a:r>
              <a:rPr lang="en-US" sz="2400" dirty="0"/>
              <a:t>(Figure 2.2b). </a:t>
            </a:r>
            <a:endParaRPr lang="en-US" sz="2400" dirty="0" smtClean="0"/>
          </a:p>
          <a:p>
            <a:pPr algn="just"/>
            <a:r>
              <a:rPr lang="en-US" sz="2400" dirty="0" smtClean="0"/>
              <a:t>An </a:t>
            </a:r>
            <a:r>
              <a:rPr lang="en-US" sz="2400" i="1" dirty="0"/>
              <a:t>evolutionary process flow </a:t>
            </a:r>
            <a:r>
              <a:rPr lang="en-US" sz="2400" dirty="0"/>
              <a:t>executes the activities in a “circular</a:t>
            </a:r>
            <a:r>
              <a:rPr lang="en-US" sz="2400" dirty="0" smtClean="0"/>
              <a:t>” manner</a:t>
            </a:r>
            <a:r>
              <a:rPr lang="en-US" sz="2400" dirty="0"/>
              <a:t>. Each circuit through the five activities leads to a more complete </a:t>
            </a:r>
            <a:r>
              <a:rPr lang="en-US" sz="2400" dirty="0" smtClean="0"/>
              <a:t>version of </a:t>
            </a:r>
            <a:r>
              <a:rPr lang="en-US" sz="2400" dirty="0"/>
              <a:t>the software (Figure 2.2c</a:t>
            </a:r>
            <a:r>
              <a:rPr lang="en-US" sz="2400" dirty="0" smtClean="0"/>
              <a:t>).</a:t>
            </a:r>
          </a:p>
          <a:p>
            <a:pPr algn="just"/>
            <a:r>
              <a:rPr lang="en-US" sz="2400" dirty="0" smtClean="0"/>
              <a:t>A </a:t>
            </a:r>
            <a:r>
              <a:rPr lang="en-US" sz="2400" i="1" dirty="0"/>
              <a:t>parallel process flow </a:t>
            </a:r>
            <a:r>
              <a:rPr lang="en-US" sz="2400" dirty="0"/>
              <a:t>(Figure 2.2d) executes one </a:t>
            </a:r>
            <a:r>
              <a:rPr lang="en-US" sz="2400" dirty="0" smtClean="0"/>
              <a:t>or more </a:t>
            </a:r>
            <a:r>
              <a:rPr lang="en-US" sz="2400" dirty="0"/>
              <a:t>activities in parallel with other activities (e.g., modeling for one aspect of </a:t>
            </a:r>
            <a:r>
              <a:rPr lang="en-US" sz="2400" dirty="0" smtClean="0"/>
              <a:t>the software </a:t>
            </a:r>
            <a:r>
              <a:rPr lang="en-US" sz="2400" dirty="0"/>
              <a:t>might be executed in parallel with construction of another aspect of </a:t>
            </a:r>
            <a:r>
              <a:rPr lang="en-US" sz="2400" dirty="0" smtClean="0"/>
              <a:t>the </a:t>
            </a:r>
            <a:r>
              <a:rPr lang="en-IN" sz="2400" dirty="0" smtClean="0"/>
              <a:t>software</a:t>
            </a:r>
            <a:r>
              <a:rPr lang="en-IN" sz="2400" dirty="0"/>
              <a:t>).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CED78A-37E9-42A7-B9AC-92D0F3F79CC1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3010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276B252E-0C55-4000-B573-4FBBF3E8BC89}" type="slidenum">
              <a:rPr lang="en-US" sz="1400" u="none" smtClean="0"/>
              <a:pPr eaLnBrk="1" hangingPunct="1"/>
              <a:t>31</a:t>
            </a:fld>
            <a:endParaRPr lang="en-US" sz="1400" u="none" smtClean="0"/>
          </a:p>
        </p:txBody>
      </p:sp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>
              <a:lnSpc>
                <a:spcPct val="9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fld id="{8C6ECA18-6751-494C-8C81-406921A0748C}" type="slidenum">
              <a:rPr lang="en-GB" sz="1400" u="none"/>
              <a:pPr algn="r" eaLnBrk="1" hangingPunct="1">
                <a:lnSpc>
                  <a:spcPct val="95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t>31</a:t>
            </a:fld>
            <a:endParaRPr lang="en-GB" sz="1400" u="none"/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1143000"/>
          </a:xfrm>
        </p:spPr>
        <p:txBody>
          <a:bodyPr lIns="90000" tIns="46800" rIns="90000" bIns="46800"/>
          <a:lstStyle/>
          <a:p>
            <a:pPr defTabSz="457200"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smtClean="0">
                <a:latin typeface="Arial" charset="0"/>
              </a:rPr>
              <a:t>Prescriptive Process Model</a:t>
            </a:r>
          </a:p>
        </p:txBody>
      </p:sp>
      <p:sp>
        <p:nvSpPr>
          <p:cNvPr id="4096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3988" cy="4116388"/>
          </a:xfrm>
        </p:spPr>
        <p:txBody>
          <a:bodyPr lIns="90000" tIns="46800" rIns="90000" bIns="46800"/>
          <a:lstStyle/>
          <a:p>
            <a:pPr marL="341313" indent="-341313" defTabSz="457200" eaLnBrk="1" hangingPunct="1">
              <a:lnSpc>
                <a:spcPct val="95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smtClean="0"/>
              <a:t>Defines a distinct set of activities, actions, tasks, milestones, and work products that are required to engineer high-quality software</a:t>
            </a:r>
          </a:p>
          <a:p>
            <a:pPr marL="341313" indent="-341313" defTabSz="457200" eaLnBrk="1" hangingPunct="1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smtClean="0"/>
              <a:t>The activities may be linear, incremental, or evolutionary </a:t>
            </a:r>
          </a:p>
          <a:p>
            <a:pPr marL="341313" indent="-341313" defTabSz="457200" eaLnBrk="1" hangingPunct="1">
              <a:spcBef>
                <a:spcPts val="700"/>
              </a:spcBef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000" smtClean="0"/>
          </a:p>
        </p:txBody>
      </p:sp>
    </p:spTree>
    <p:extLst>
      <p:ext uri="{BB962C8B-B14F-4D97-AF65-F5344CB8AC3E}">
        <p14:creationId xmlns:p14="http://schemas.microsoft.com/office/powerpoint/2010/main" val="1947099048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8C47E62-4F22-43C4-9DC5-E7A94C782230}" type="slidenum">
              <a:rPr lang="en-US" sz="1400" u="none" smtClean="0"/>
              <a:pPr eaLnBrk="1" hangingPunct="1"/>
              <a:t>32</a:t>
            </a:fld>
            <a:endParaRPr lang="en-US" sz="1400" u="none" smtClean="0"/>
          </a:p>
        </p:txBody>
      </p:sp>
      <p:sp>
        <p:nvSpPr>
          <p:cNvPr id="41987" name="Text Box 2"/>
          <p:cNvSpPr txBox="1">
            <a:spLocks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>
              <a:lnSpc>
                <a:spcPct val="9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fld id="{FF53B295-5B2D-4CB9-A03A-84C03927F12F}" type="slidenum">
              <a:rPr lang="en-GB" sz="1400" u="none"/>
              <a:pPr algn="r" eaLnBrk="1" hangingPunct="1">
                <a:lnSpc>
                  <a:spcPct val="95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t>32</a:t>
            </a:fld>
            <a:endParaRPr lang="en-GB" sz="1400" u="none"/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42863"/>
            <a:ext cx="7772400" cy="1362075"/>
          </a:xfrm>
        </p:spPr>
        <p:txBody>
          <a:bodyPr lIns="90000" tIns="46800" rIns="90000" bIns="46800">
            <a:normAutofit fontScale="90000"/>
          </a:bodyPr>
          <a:lstStyle/>
          <a:p>
            <a:pPr defTabSz="457200" eaLnBrk="1" hangingPunct="1"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mtClean="0"/>
              <a:t>Waterfall Model</a:t>
            </a:r>
            <a:br>
              <a:rPr lang="en-GB" smtClean="0"/>
            </a:br>
            <a:r>
              <a:rPr lang="en-GB" smtClean="0"/>
              <a:t>(Diagram)</a:t>
            </a:r>
          </a:p>
        </p:txBody>
      </p:sp>
      <p:grpSp>
        <p:nvGrpSpPr>
          <p:cNvPr id="41989" name="Group 4"/>
          <p:cNvGrpSpPr>
            <a:grpSpLocks/>
          </p:cNvGrpSpPr>
          <p:nvPr/>
        </p:nvGrpSpPr>
        <p:grpSpPr bwMode="auto">
          <a:xfrm>
            <a:off x="152400" y="1752600"/>
            <a:ext cx="2360613" cy="1066800"/>
            <a:chOff x="96" y="1104"/>
            <a:chExt cx="1487" cy="575"/>
          </a:xfrm>
        </p:grpSpPr>
        <p:sp>
          <p:nvSpPr>
            <p:cNvPr id="42010" name="AutoShape 5"/>
            <p:cNvSpPr>
              <a:spLocks noChangeArrowheads="1"/>
            </p:cNvSpPr>
            <p:nvPr/>
          </p:nvSpPr>
          <p:spPr bwMode="auto">
            <a:xfrm>
              <a:off x="96" y="1104"/>
              <a:ext cx="1488" cy="576"/>
            </a:xfrm>
            <a:prstGeom prst="roundRect">
              <a:avLst>
                <a:gd name="adj" fmla="val 171"/>
              </a:avLst>
            </a:prstGeom>
            <a:solidFill>
              <a:srgbClr val="FF99CC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1" name="AutoShape 6"/>
            <p:cNvSpPr>
              <a:spLocks noChangeArrowheads="1"/>
            </p:cNvSpPr>
            <p:nvPr/>
          </p:nvSpPr>
          <p:spPr bwMode="auto">
            <a:xfrm>
              <a:off x="96" y="1104"/>
              <a:ext cx="1488" cy="576"/>
            </a:xfrm>
            <a:prstGeom prst="roundRect">
              <a:avLst>
                <a:gd name="adj" fmla="val 17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95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/>
                <a:t>Communication</a:t>
              </a:r>
            </a:p>
            <a:p>
              <a:pPr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u="none"/>
                <a:t>Project initiation</a:t>
              </a:r>
            </a:p>
            <a:p>
              <a:pPr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u="none"/>
                <a:t>Requirements gathering</a:t>
              </a:r>
            </a:p>
          </p:txBody>
        </p:sp>
      </p:grpSp>
      <p:grpSp>
        <p:nvGrpSpPr>
          <p:cNvPr id="41990" name="Group 7"/>
          <p:cNvGrpSpPr>
            <a:grpSpLocks/>
          </p:cNvGrpSpPr>
          <p:nvPr/>
        </p:nvGrpSpPr>
        <p:grpSpPr bwMode="auto">
          <a:xfrm>
            <a:off x="2057400" y="2971800"/>
            <a:ext cx="1522413" cy="1141413"/>
            <a:chOff x="1296" y="1872"/>
            <a:chExt cx="959" cy="719"/>
          </a:xfrm>
        </p:grpSpPr>
        <p:sp>
          <p:nvSpPr>
            <p:cNvPr id="42008" name="AutoShape 8"/>
            <p:cNvSpPr>
              <a:spLocks noChangeArrowheads="1"/>
            </p:cNvSpPr>
            <p:nvPr/>
          </p:nvSpPr>
          <p:spPr bwMode="auto">
            <a:xfrm>
              <a:off x="1296" y="1872"/>
              <a:ext cx="960" cy="720"/>
            </a:xfrm>
            <a:prstGeom prst="roundRect">
              <a:avLst>
                <a:gd name="adj" fmla="val 139"/>
              </a:avLst>
            </a:prstGeom>
            <a:solidFill>
              <a:srgbClr val="FFCC99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9" name="AutoShape 9"/>
            <p:cNvSpPr>
              <a:spLocks noChangeArrowheads="1"/>
            </p:cNvSpPr>
            <p:nvPr/>
          </p:nvSpPr>
          <p:spPr bwMode="auto">
            <a:xfrm>
              <a:off x="1296" y="1872"/>
              <a:ext cx="960" cy="720"/>
            </a:xfrm>
            <a:prstGeom prst="roundRect">
              <a:avLst>
                <a:gd name="adj" fmla="val 13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>
                <a:lnSpc>
                  <a:spcPct val="95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/>
                <a:t>Planning</a:t>
              </a:r>
            </a:p>
            <a:p>
              <a:pPr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u="none"/>
                <a:t>Estimating</a:t>
              </a:r>
            </a:p>
            <a:p>
              <a:pPr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u="none"/>
                <a:t>Scheduling</a:t>
              </a:r>
            </a:p>
            <a:p>
              <a:pPr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u="none"/>
                <a:t>Tracking</a:t>
              </a:r>
            </a:p>
          </p:txBody>
        </p:sp>
      </p:grpSp>
      <p:grpSp>
        <p:nvGrpSpPr>
          <p:cNvPr id="41991" name="Group 10"/>
          <p:cNvGrpSpPr>
            <a:grpSpLocks/>
          </p:cNvGrpSpPr>
          <p:nvPr/>
        </p:nvGrpSpPr>
        <p:grpSpPr bwMode="auto">
          <a:xfrm>
            <a:off x="3810000" y="3733800"/>
            <a:ext cx="1446213" cy="912813"/>
            <a:chOff x="2400" y="2352"/>
            <a:chExt cx="911" cy="575"/>
          </a:xfrm>
        </p:grpSpPr>
        <p:sp>
          <p:nvSpPr>
            <p:cNvPr id="42006" name="AutoShape 11"/>
            <p:cNvSpPr>
              <a:spLocks noChangeArrowheads="1"/>
            </p:cNvSpPr>
            <p:nvPr/>
          </p:nvSpPr>
          <p:spPr bwMode="auto">
            <a:xfrm>
              <a:off x="2400" y="2352"/>
              <a:ext cx="912" cy="576"/>
            </a:xfrm>
            <a:prstGeom prst="roundRect">
              <a:avLst>
                <a:gd name="adj" fmla="val 171"/>
              </a:avLst>
            </a:prstGeom>
            <a:solidFill>
              <a:srgbClr val="FFFF99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7" name="AutoShape 12"/>
            <p:cNvSpPr>
              <a:spLocks noChangeArrowheads="1"/>
            </p:cNvSpPr>
            <p:nvPr/>
          </p:nvSpPr>
          <p:spPr bwMode="auto">
            <a:xfrm>
              <a:off x="2400" y="2352"/>
              <a:ext cx="912" cy="576"/>
            </a:xfrm>
            <a:prstGeom prst="roundRect">
              <a:avLst>
                <a:gd name="adj" fmla="val 17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>
                <a:lnSpc>
                  <a:spcPct val="95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/>
                <a:t>Modeling</a:t>
              </a:r>
            </a:p>
            <a:p>
              <a:pPr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u="none"/>
                <a:t>Analysis</a:t>
              </a:r>
            </a:p>
            <a:p>
              <a:pPr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u="none"/>
                <a:t>Design</a:t>
              </a:r>
            </a:p>
          </p:txBody>
        </p:sp>
      </p:grpSp>
      <p:grpSp>
        <p:nvGrpSpPr>
          <p:cNvPr id="41992" name="Group 13"/>
          <p:cNvGrpSpPr>
            <a:grpSpLocks/>
          </p:cNvGrpSpPr>
          <p:nvPr/>
        </p:nvGrpSpPr>
        <p:grpSpPr bwMode="auto">
          <a:xfrm>
            <a:off x="5486400" y="4343400"/>
            <a:ext cx="1522413" cy="912813"/>
            <a:chOff x="3456" y="2736"/>
            <a:chExt cx="959" cy="575"/>
          </a:xfrm>
        </p:grpSpPr>
        <p:sp>
          <p:nvSpPr>
            <p:cNvPr id="42004" name="AutoShape 14"/>
            <p:cNvSpPr>
              <a:spLocks noChangeArrowheads="1"/>
            </p:cNvSpPr>
            <p:nvPr/>
          </p:nvSpPr>
          <p:spPr bwMode="auto">
            <a:xfrm>
              <a:off x="3456" y="2736"/>
              <a:ext cx="960" cy="576"/>
            </a:xfrm>
            <a:prstGeom prst="roundRect">
              <a:avLst>
                <a:gd name="adj" fmla="val 171"/>
              </a:avLst>
            </a:prstGeom>
            <a:solidFill>
              <a:srgbClr val="CCFFCC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5" name="AutoShape 15"/>
            <p:cNvSpPr>
              <a:spLocks noChangeArrowheads="1"/>
            </p:cNvSpPr>
            <p:nvPr/>
          </p:nvSpPr>
          <p:spPr bwMode="auto">
            <a:xfrm>
              <a:off x="3456" y="2736"/>
              <a:ext cx="960" cy="576"/>
            </a:xfrm>
            <a:prstGeom prst="roundRect">
              <a:avLst>
                <a:gd name="adj" fmla="val 17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>
                <a:lnSpc>
                  <a:spcPct val="95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/>
                <a:t>Construction</a:t>
              </a:r>
            </a:p>
            <a:p>
              <a:pPr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u="none"/>
                <a:t>Code</a:t>
              </a:r>
            </a:p>
            <a:p>
              <a:pPr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u="none"/>
                <a:t>Test</a:t>
              </a:r>
            </a:p>
          </p:txBody>
        </p:sp>
      </p:grpSp>
      <p:grpSp>
        <p:nvGrpSpPr>
          <p:cNvPr id="41993" name="Group 16"/>
          <p:cNvGrpSpPr>
            <a:grpSpLocks/>
          </p:cNvGrpSpPr>
          <p:nvPr/>
        </p:nvGrpSpPr>
        <p:grpSpPr bwMode="auto">
          <a:xfrm>
            <a:off x="7391400" y="4953000"/>
            <a:ext cx="1598613" cy="1217613"/>
            <a:chOff x="4656" y="3120"/>
            <a:chExt cx="1007" cy="767"/>
          </a:xfrm>
        </p:grpSpPr>
        <p:sp>
          <p:nvSpPr>
            <p:cNvPr id="42002" name="AutoShape 17"/>
            <p:cNvSpPr>
              <a:spLocks noChangeArrowheads="1"/>
            </p:cNvSpPr>
            <p:nvPr/>
          </p:nvSpPr>
          <p:spPr bwMode="auto">
            <a:xfrm>
              <a:off x="4656" y="3120"/>
              <a:ext cx="1008" cy="768"/>
            </a:xfrm>
            <a:prstGeom prst="roundRect">
              <a:avLst>
                <a:gd name="adj" fmla="val 130"/>
              </a:avLst>
            </a:prstGeom>
            <a:solidFill>
              <a:srgbClr val="CCFF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3" name="AutoShape 18"/>
            <p:cNvSpPr>
              <a:spLocks noChangeArrowheads="1"/>
            </p:cNvSpPr>
            <p:nvPr/>
          </p:nvSpPr>
          <p:spPr bwMode="auto">
            <a:xfrm>
              <a:off x="4656" y="3120"/>
              <a:ext cx="1008" cy="768"/>
            </a:xfrm>
            <a:prstGeom prst="roundRect">
              <a:avLst>
                <a:gd name="adj" fmla="val 13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>
                <a:lnSpc>
                  <a:spcPct val="95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/>
                <a:t>Deployment</a:t>
              </a:r>
            </a:p>
            <a:p>
              <a:pPr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u="none"/>
                <a:t>Delivery</a:t>
              </a:r>
            </a:p>
            <a:p>
              <a:pPr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u="none"/>
                <a:t>Support</a:t>
              </a:r>
            </a:p>
            <a:p>
              <a:pPr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u="none"/>
                <a:t>Feedback</a:t>
              </a:r>
            </a:p>
          </p:txBody>
        </p:sp>
      </p:grpSp>
      <p:sp>
        <p:nvSpPr>
          <p:cNvPr id="41994" name="Line 19"/>
          <p:cNvSpPr>
            <a:spLocks noChangeShapeType="1"/>
          </p:cNvSpPr>
          <p:nvPr/>
        </p:nvSpPr>
        <p:spPr bwMode="auto">
          <a:xfrm>
            <a:off x="2514600" y="2209800"/>
            <a:ext cx="457200" cy="1588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995" name="Line 20"/>
          <p:cNvSpPr>
            <a:spLocks noChangeShapeType="1"/>
          </p:cNvSpPr>
          <p:nvPr/>
        </p:nvSpPr>
        <p:spPr bwMode="auto">
          <a:xfrm>
            <a:off x="2971800" y="2209800"/>
            <a:ext cx="1588" cy="7620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996" name="Line 21"/>
          <p:cNvSpPr>
            <a:spLocks noChangeShapeType="1"/>
          </p:cNvSpPr>
          <p:nvPr/>
        </p:nvSpPr>
        <p:spPr bwMode="auto">
          <a:xfrm>
            <a:off x="3581400" y="3200400"/>
            <a:ext cx="914400" cy="1588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997" name="Line 22"/>
          <p:cNvSpPr>
            <a:spLocks noChangeShapeType="1"/>
          </p:cNvSpPr>
          <p:nvPr/>
        </p:nvSpPr>
        <p:spPr bwMode="auto">
          <a:xfrm>
            <a:off x="4495800" y="3200400"/>
            <a:ext cx="1588" cy="5334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998" name="Line 23"/>
          <p:cNvSpPr>
            <a:spLocks noChangeShapeType="1"/>
          </p:cNvSpPr>
          <p:nvPr/>
        </p:nvSpPr>
        <p:spPr bwMode="auto">
          <a:xfrm>
            <a:off x="5257800" y="3962400"/>
            <a:ext cx="914400" cy="1588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999" name="Line 24"/>
          <p:cNvSpPr>
            <a:spLocks noChangeShapeType="1"/>
          </p:cNvSpPr>
          <p:nvPr/>
        </p:nvSpPr>
        <p:spPr bwMode="auto">
          <a:xfrm>
            <a:off x="6172200" y="3962400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2000" name="Line 25"/>
          <p:cNvSpPr>
            <a:spLocks noChangeShapeType="1"/>
          </p:cNvSpPr>
          <p:nvPr/>
        </p:nvSpPr>
        <p:spPr bwMode="auto">
          <a:xfrm>
            <a:off x="7010400" y="4572000"/>
            <a:ext cx="1143000" cy="1588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2001" name="Line 26"/>
          <p:cNvSpPr>
            <a:spLocks noChangeShapeType="1"/>
          </p:cNvSpPr>
          <p:nvPr/>
        </p:nvSpPr>
        <p:spPr bwMode="auto">
          <a:xfrm>
            <a:off x="8153400" y="4572000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481621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86085B0-C562-4DAA-AD59-E3D0EA32E7F4}" type="slidenum">
              <a:rPr lang="en-US" sz="1400" u="none" smtClean="0"/>
              <a:pPr eaLnBrk="1" hangingPunct="1"/>
              <a:t>33</a:t>
            </a:fld>
            <a:endParaRPr lang="en-US" sz="1400" u="none" smtClean="0"/>
          </a:p>
        </p:txBody>
      </p:sp>
      <p:sp>
        <p:nvSpPr>
          <p:cNvPr id="43011" name="Text Box 2"/>
          <p:cNvSpPr txBox="1">
            <a:spLocks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>
              <a:lnSpc>
                <a:spcPct val="9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fld id="{F87578C7-C802-457F-8E14-910C9949F8CD}" type="slidenum">
              <a:rPr lang="en-GB" sz="1400" u="none"/>
              <a:pPr algn="r" eaLnBrk="1" hangingPunct="1">
                <a:lnSpc>
                  <a:spcPct val="95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t>33</a:t>
            </a:fld>
            <a:endParaRPr lang="en-GB" sz="1400" u="none"/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42863"/>
            <a:ext cx="7772400" cy="1362075"/>
          </a:xfrm>
        </p:spPr>
        <p:txBody>
          <a:bodyPr lIns="90000" tIns="46800" rIns="90000" bIns="46800">
            <a:normAutofit fontScale="90000"/>
          </a:bodyPr>
          <a:lstStyle/>
          <a:p>
            <a:pPr defTabSz="457200" eaLnBrk="1" hangingPunct="1"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mtClean="0"/>
              <a:t>Waterfall Model</a:t>
            </a:r>
            <a:br>
              <a:rPr lang="en-GB" smtClean="0"/>
            </a:br>
            <a:r>
              <a:rPr lang="en-GB" smtClean="0"/>
              <a:t>(Description)</a:t>
            </a:r>
          </a:p>
        </p:txBody>
      </p:sp>
      <p:sp>
        <p:nvSpPr>
          <p:cNvPr id="4301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382000" cy="4114800"/>
          </a:xfrm>
        </p:spPr>
        <p:txBody>
          <a:bodyPr lIns="90000" tIns="46800" rIns="90000" bIns="46800"/>
          <a:lstStyle/>
          <a:p>
            <a:pPr marL="341313" indent="-341313" defTabSz="457200" eaLnBrk="1" hangingPunct="1">
              <a:lnSpc>
                <a:spcPct val="95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smtClean="0"/>
              <a:t>Oldest software lifecycle model and best understood by upper management</a:t>
            </a:r>
          </a:p>
          <a:p>
            <a:pPr marL="341313" indent="-341313" defTabSz="457200" eaLnBrk="1" hangingPunct="1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smtClean="0"/>
              <a:t>Used when requirements are well understood and risk is low</a:t>
            </a:r>
          </a:p>
          <a:p>
            <a:pPr marL="341313" indent="-341313" defTabSz="457200" eaLnBrk="1" hangingPunct="1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smtClean="0"/>
              <a:t>Work flow is in a linear (i.e., sequential) fashion</a:t>
            </a:r>
          </a:p>
          <a:p>
            <a:pPr marL="341313" indent="-341313" defTabSz="457200" eaLnBrk="1" hangingPunct="1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smtClean="0"/>
              <a:t>Used often with well-defined adaptations or enhancements to current software</a:t>
            </a:r>
          </a:p>
        </p:txBody>
      </p:sp>
    </p:spTree>
    <p:extLst>
      <p:ext uri="{BB962C8B-B14F-4D97-AF65-F5344CB8AC3E}">
        <p14:creationId xmlns:p14="http://schemas.microsoft.com/office/powerpoint/2010/main" val="2687714583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0A292384-17B0-4326-91F5-FC3703E556A7}" type="slidenum">
              <a:rPr lang="en-US" sz="1400" u="none" smtClean="0"/>
              <a:pPr eaLnBrk="1" hangingPunct="1"/>
              <a:t>34</a:t>
            </a:fld>
            <a:endParaRPr lang="en-US" sz="1400" u="none" smtClean="0"/>
          </a:p>
        </p:txBody>
      </p:sp>
      <p:sp>
        <p:nvSpPr>
          <p:cNvPr id="44035" name="Text Box 2"/>
          <p:cNvSpPr txBox="1">
            <a:spLocks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u="sng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>
              <a:lnSpc>
                <a:spcPct val="9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fld id="{93ECD684-1902-402D-B47A-EBF567ECD9E0}" type="slidenum">
              <a:rPr lang="en-GB" sz="1400" u="none"/>
              <a:pPr algn="r" eaLnBrk="1" hangingPunct="1">
                <a:lnSpc>
                  <a:spcPct val="95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t>34</a:t>
            </a:fld>
            <a:endParaRPr lang="en-GB" sz="1400" u="none"/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42863"/>
            <a:ext cx="7772400" cy="1362075"/>
          </a:xfrm>
        </p:spPr>
        <p:txBody>
          <a:bodyPr lIns="90000" tIns="46800" rIns="90000" bIns="46800">
            <a:normAutofit fontScale="90000"/>
          </a:bodyPr>
          <a:lstStyle/>
          <a:p>
            <a:pPr defTabSz="457200" eaLnBrk="1" hangingPunct="1"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mtClean="0"/>
              <a:t>Waterfall Model</a:t>
            </a:r>
            <a:br>
              <a:rPr lang="en-GB" smtClean="0"/>
            </a:br>
            <a:r>
              <a:rPr lang="en-GB" smtClean="0"/>
              <a:t>(Problems)</a:t>
            </a:r>
          </a:p>
        </p:txBody>
      </p:sp>
      <p:sp>
        <p:nvSpPr>
          <p:cNvPr id="44037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382000" cy="4114800"/>
          </a:xfrm>
        </p:spPr>
        <p:txBody>
          <a:bodyPr lIns="90000" tIns="46800" rIns="90000" bIns="46800"/>
          <a:lstStyle/>
          <a:p>
            <a:pPr marL="341313" indent="-341313" defTabSz="457200" eaLnBrk="1" hangingPunct="1">
              <a:lnSpc>
                <a:spcPct val="9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smtClean="0"/>
              <a:t>Doesn't support iteration, so changes can cause confusion</a:t>
            </a:r>
          </a:p>
          <a:p>
            <a:pPr marL="341313" indent="-341313" defTabSz="457200" eaLnBrk="1" hangingPunct="1">
              <a:lnSpc>
                <a:spcPct val="9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smtClean="0"/>
              <a:t>Difficult for customers to state all requirements explicitly and up front</a:t>
            </a:r>
          </a:p>
          <a:p>
            <a:pPr marL="341313" indent="-341313" defTabSz="457200" eaLnBrk="1" hangingPunct="1">
              <a:lnSpc>
                <a:spcPct val="9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smtClean="0"/>
              <a:t>Requires customer patience because a working version of the program doesn't occur until the final phase</a:t>
            </a:r>
          </a:p>
          <a:p>
            <a:pPr marL="341313" indent="-341313" defTabSz="457200" eaLnBrk="1" hangingPunct="1">
              <a:lnSpc>
                <a:spcPct val="9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smtClean="0"/>
              <a:t>Problems can be somewhat alleviated in the model through the addition of feedback loops (see the next slide)</a:t>
            </a:r>
          </a:p>
        </p:txBody>
      </p:sp>
    </p:spTree>
    <p:extLst>
      <p:ext uri="{BB962C8B-B14F-4D97-AF65-F5344CB8AC3E}">
        <p14:creationId xmlns:p14="http://schemas.microsoft.com/office/powerpoint/2010/main" val="1808931822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 - Model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453DEA-E59D-4FDC-913C-3BB41CE81061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pic>
        <p:nvPicPr>
          <p:cNvPr id="6993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752600"/>
            <a:ext cx="5283200" cy="5108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83808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Incremental Model</a:t>
            </a:r>
            <a:br>
              <a:rPr lang="en-GB" dirty="0"/>
            </a:br>
            <a:r>
              <a:rPr lang="en-GB" dirty="0"/>
              <a:t>(Diagram)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453DEA-E59D-4FDC-913C-3BB41CE81061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pic>
        <p:nvPicPr>
          <p:cNvPr id="6993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953972"/>
            <a:ext cx="7293038" cy="4221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3401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1868</Words>
  <Application>Microsoft Office PowerPoint</Application>
  <PresentationFormat>On-screen Show (4:3)</PresentationFormat>
  <Paragraphs>252</Paragraphs>
  <Slides>36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 Software and Software Engineering     </vt:lpstr>
      <vt:lpstr>Dual Role of Software</vt:lpstr>
      <vt:lpstr>Questions About Software Haven't Changed Over the Decades</vt:lpstr>
      <vt:lpstr>A Definition of Software  (all inclusive)</vt:lpstr>
      <vt:lpstr>Differences between Software and Hardware</vt:lpstr>
      <vt:lpstr>PowerPoint Presentation</vt:lpstr>
      <vt:lpstr>Software Failure Curve</vt:lpstr>
      <vt:lpstr>Software Application Domains</vt:lpstr>
      <vt:lpstr>Software Application Domains</vt:lpstr>
      <vt:lpstr>Software Application Domains</vt:lpstr>
      <vt:lpstr>Legacy Software - Characteristics</vt:lpstr>
      <vt:lpstr>Reasons for Evolving the Legacy Software</vt:lpstr>
      <vt:lpstr>Software Engineering - Defined</vt:lpstr>
      <vt:lpstr>Software Engineering - Defined</vt:lpstr>
      <vt:lpstr>Software Engineering is a Layered Technology</vt:lpstr>
      <vt:lpstr>Process, Methods, and Tools</vt:lpstr>
      <vt:lpstr>Software Process</vt:lpstr>
      <vt:lpstr>Software Process</vt:lpstr>
      <vt:lpstr>Software Process</vt:lpstr>
      <vt:lpstr>Software Process - Example</vt:lpstr>
      <vt:lpstr>Generic Process Framework</vt:lpstr>
      <vt:lpstr>Generic Process Framework</vt:lpstr>
      <vt:lpstr>Umbrella Activities</vt:lpstr>
      <vt:lpstr>SOFTWARE ENGINEERING PRACTICE</vt:lpstr>
      <vt:lpstr>The Essence of Practice</vt:lpstr>
      <vt:lpstr>The Essence of Practice (continued)</vt:lpstr>
      <vt:lpstr>Seven Core Principles for Software Engineering</vt:lpstr>
      <vt:lpstr>Generic Process Model</vt:lpstr>
      <vt:lpstr>PowerPoint Presentation</vt:lpstr>
      <vt:lpstr>PowerPoint Presentation</vt:lpstr>
      <vt:lpstr>Prescriptive Process Model</vt:lpstr>
      <vt:lpstr>Waterfall Model (Diagram)</vt:lpstr>
      <vt:lpstr>Waterfall Model (Description)</vt:lpstr>
      <vt:lpstr>Waterfall Model (Problems)</vt:lpstr>
      <vt:lpstr>V - Model</vt:lpstr>
      <vt:lpstr>Incremental Model (Diagram)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Software and Software Engineering     </dc:title>
  <dc:creator>Admin</dc:creator>
  <cp:lastModifiedBy>Admin</cp:lastModifiedBy>
  <cp:revision>1</cp:revision>
  <dcterms:created xsi:type="dcterms:W3CDTF">2025-12-19T10:50:38Z</dcterms:created>
  <dcterms:modified xsi:type="dcterms:W3CDTF">2025-12-19T10:51:25Z</dcterms:modified>
</cp:coreProperties>
</file>